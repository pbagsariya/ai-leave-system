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3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98"/>
    <p:restoredTop sz="94657"/>
  </p:normalViewPr>
  <p:slideViewPr>
    <p:cSldViewPr snapToGrid="0" snapToObjects="1">
      <p:cViewPr varScale="1">
        <p:scale>
          <a:sx n="102" d="100"/>
          <a:sy n="102" d="100"/>
        </p:scale>
        <p:origin x="7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7AA825-F7E3-364A-BEFE-F910A25E291C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7C1D5B-8541-734E-920A-3E8884BA3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598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8DF32-A219-73FC-7D43-DFEA9C8FF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D2CDF73-B79A-F008-7DD8-F58B33EE849F}"/>
              </a:ext>
            </a:extLst>
          </p:cNvPr>
          <p:cNvSpPr/>
          <p:nvPr/>
        </p:nvSpPr>
        <p:spPr>
          <a:xfrm>
            <a:off x="365760" y="365760"/>
            <a:ext cx="11457432" cy="6126480"/>
          </a:xfrm>
          <a:prstGeom prst="roundRect">
            <a:avLst>
              <a:gd name="adj" fmla="val 2500"/>
            </a:avLst>
          </a:prstGeom>
          <a:solidFill>
            <a:srgbClr val="152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05F51FD-7C93-B8AD-EA6A-6A571A3D68C7}"/>
              </a:ext>
            </a:extLst>
          </p:cNvPr>
          <p:cNvSpPr/>
          <p:nvPr/>
        </p:nvSpPr>
        <p:spPr>
          <a:xfrm>
            <a:off x="8915400" y="-1143000"/>
            <a:ext cx="3566160" cy="3566160"/>
          </a:xfrm>
          <a:prstGeom prst="ellipse">
            <a:avLst/>
          </a:prstGeom>
          <a:solidFill>
            <a:srgbClr val="15223C"/>
          </a:solidFill>
          <a:ln w="25400">
            <a:solidFill>
              <a:srgbClr val="F265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9DB5B73-7A18-797F-5A09-BE18E0F1F10E}"/>
              </a:ext>
            </a:extLst>
          </p:cNvPr>
          <p:cNvSpPr/>
          <p:nvPr/>
        </p:nvSpPr>
        <p:spPr>
          <a:xfrm>
            <a:off x="9555480" y="-502920"/>
            <a:ext cx="2286000" cy="2286000"/>
          </a:xfrm>
          <a:prstGeom prst="ellipse">
            <a:avLst/>
          </a:prstGeom>
          <a:noFill/>
          <a:ln w="19050">
            <a:solidFill>
              <a:srgbClr val="F265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B98C6A-0498-6C32-A5E3-BEDC63615F5B}"/>
              </a:ext>
            </a:extLst>
          </p:cNvPr>
          <p:cNvSpPr txBox="1"/>
          <p:nvPr/>
        </p:nvSpPr>
        <p:spPr>
          <a:xfrm>
            <a:off x="9692640" y="41148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26522"/>
                </a:solidFill>
                <a:latin typeface="Calibri"/>
              </a:rPr>
              <a:t>ING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E609675-D605-A6F3-312A-524BD58C065A}"/>
              </a:ext>
            </a:extLst>
          </p:cNvPr>
          <p:cNvSpPr/>
          <p:nvPr/>
        </p:nvSpPr>
        <p:spPr>
          <a:xfrm>
            <a:off x="11475720" y="1554480"/>
            <a:ext cx="411480" cy="3017520"/>
          </a:xfrm>
          <a:prstGeom prst="roundRect">
            <a:avLst>
              <a:gd name="adj" fmla="val 30000"/>
            </a:avLst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C4CBF6-6DA4-9129-2CF6-DB3BDFD8E9C7}"/>
              </a:ext>
            </a:extLst>
          </p:cNvPr>
          <p:cNvSpPr txBox="1"/>
          <p:nvPr/>
        </p:nvSpPr>
        <p:spPr>
          <a:xfrm rot="16200000">
            <a:off x="11061868" y="2970907"/>
            <a:ext cx="1284903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 dirty="0" err="1">
                <a:solidFill>
                  <a:srgbClr val="FFFFFF"/>
                </a:solidFill>
                <a:latin typeface="Calibri"/>
              </a:rPr>
              <a:t>Cod</a:t>
            </a:r>
            <a:r>
              <a:rPr sz="1200" b="1" i="0" dirty="0" err="1">
                <a:latin typeface="Calibri"/>
              </a:rPr>
              <a:t>ING</a:t>
            </a:r>
            <a:r>
              <a:rPr sz="1200" b="1" i="0" dirty="0">
                <a:solidFill>
                  <a:srgbClr val="FFFFFF"/>
                </a:solidFill>
                <a:latin typeface="Calibri"/>
              </a:rPr>
              <a:t> is my cardio</a:t>
            </a:r>
          </a:p>
        </p:txBody>
      </p:sp>
      <p:pic>
        <p:nvPicPr>
          <p:cNvPr id="9" name="Picture 8" descr="cognizant logo.png">
            <a:extLst>
              <a:ext uri="{FF2B5EF4-FFF2-40B4-BE49-F238E27FC236}">
                <a16:creationId xmlns:a16="http://schemas.microsoft.com/office/drawing/2014/main" id="{EEC4ACEA-48E9-8896-2720-CC2111E52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" y="6430975"/>
            <a:ext cx="697126" cy="213969"/>
          </a:xfrm>
          <a:prstGeom prst="rect">
            <a:avLst/>
          </a:prstGeom>
        </p:spPr>
      </p:pic>
      <p:pic>
        <p:nvPicPr>
          <p:cNvPr id="10" name="Picture 9" descr="cognizant logo.png">
            <a:extLst>
              <a:ext uri="{FF2B5EF4-FFF2-40B4-BE49-F238E27FC236}">
                <a16:creationId xmlns:a16="http://schemas.microsoft.com/office/drawing/2014/main" id="{FDB5D563-A0CD-D01E-453C-DC8BC9BD2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868680"/>
            <a:ext cx="968231" cy="297180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29537E4-B288-6ED5-2B7B-5D3F9FD10BDE}"/>
              </a:ext>
            </a:extLst>
          </p:cNvPr>
          <p:cNvSpPr/>
          <p:nvPr/>
        </p:nvSpPr>
        <p:spPr>
          <a:xfrm>
            <a:off x="868680" y="1417320"/>
            <a:ext cx="4114800" cy="502920"/>
          </a:xfrm>
          <a:prstGeom prst="roundRect">
            <a:avLst>
              <a:gd name="adj" fmla="val 18000"/>
            </a:avLst>
          </a:prstGeom>
          <a:noFill/>
          <a:ln w="12700">
            <a:solidFill>
              <a:srgbClr val="F265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CD73D1-5974-584D-D94A-D60683708922}"/>
              </a:ext>
            </a:extLst>
          </p:cNvPr>
          <p:cNvSpPr txBox="1"/>
          <p:nvPr/>
        </p:nvSpPr>
        <p:spPr>
          <a:xfrm>
            <a:off x="1005840" y="1463040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C9D6EC"/>
                </a:solidFill>
                <a:latin typeface="Calibri"/>
              </a:rPr>
              <a:t>Theme: [ Experience / Automate 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D673C7-6460-D3FD-D2C0-E298E484B559}"/>
              </a:ext>
            </a:extLst>
          </p:cNvPr>
          <p:cNvSpPr txBox="1"/>
          <p:nvPr/>
        </p:nvSpPr>
        <p:spPr>
          <a:xfrm>
            <a:off x="868680" y="2286000"/>
            <a:ext cx="7315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Georgia"/>
              </a:rPr>
              <a:t>AI-Leave Assistant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A8206F-404C-DCFE-A508-1AE784A58768}"/>
              </a:ext>
            </a:extLst>
          </p:cNvPr>
          <p:cNvSpPr txBox="1"/>
          <p:nvPr/>
        </p:nvSpPr>
        <p:spPr>
          <a:xfrm>
            <a:off x="868680" y="2965050"/>
            <a:ext cx="650915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1" dirty="0">
                <a:solidFill>
                  <a:srgbClr val="C9D6EC"/>
                </a:solidFill>
                <a:latin typeface="Calibri"/>
              </a:rPr>
              <a:t>One-line summary: apply for leave in plain English — an AI agent extracts, validates, confirms and routes it.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95C4A50-F2C6-5718-EFC3-224F3BDC52EF}"/>
              </a:ext>
            </a:extLst>
          </p:cNvPr>
          <p:cNvSpPr/>
          <p:nvPr/>
        </p:nvSpPr>
        <p:spPr>
          <a:xfrm>
            <a:off x="9006840" y="3328416"/>
            <a:ext cx="2541138" cy="420624"/>
          </a:xfrm>
          <a:prstGeom prst="roundRect">
            <a:avLst>
              <a:gd name="adj" fmla="val 50000"/>
            </a:avLst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19th – 20th June 2026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0D07D7-77E8-01C1-C8EB-F55D8D2DE648}"/>
              </a:ext>
            </a:extLst>
          </p:cNvPr>
          <p:cNvSpPr txBox="1"/>
          <p:nvPr/>
        </p:nvSpPr>
        <p:spPr>
          <a:xfrm>
            <a:off x="4297680" y="60807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C9D6EC"/>
                </a:solidFill>
                <a:latin typeface="Calibri"/>
              </a:rPr>
              <a:t>Global Cognizant ING Hackathon 2026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DB3468-EA81-CCCB-1428-A3019123ABA8}"/>
              </a:ext>
            </a:extLst>
          </p:cNvPr>
          <p:cNvSpPr txBox="1"/>
          <p:nvPr/>
        </p:nvSpPr>
        <p:spPr>
          <a:xfrm>
            <a:off x="10908792" y="608076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Shape 2">
            <a:extLst>
              <a:ext uri="{FF2B5EF4-FFF2-40B4-BE49-F238E27FC236}">
                <a16:creationId xmlns:a16="http://schemas.microsoft.com/office/drawing/2014/main" id="{F680B431-EB82-DA72-3FCA-35F9501E2FD8}"/>
              </a:ext>
            </a:extLst>
          </p:cNvPr>
          <p:cNvSpPr/>
          <p:nvPr/>
        </p:nvSpPr>
        <p:spPr>
          <a:xfrm>
            <a:off x="-975360" y="4754880"/>
            <a:ext cx="2812271" cy="2788920"/>
          </a:xfrm>
          <a:prstGeom prst="ellipse">
            <a:avLst/>
          </a:prstGeom>
          <a:solidFill>
            <a:srgbClr val="132040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954496AF-9A2B-416B-60A2-26B853B6F9D3}"/>
              </a:ext>
            </a:extLst>
          </p:cNvPr>
          <p:cNvSpPr/>
          <p:nvPr/>
        </p:nvSpPr>
        <p:spPr>
          <a:xfrm>
            <a:off x="609600" y="3657600"/>
            <a:ext cx="5727192" cy="1462735"/>
          </a:xfrm>
          <a:prstGeom prst="roundRect">
            <a:avLst>
              <a:gd name="adj" fmla="val 8000"/>
            </a:avLst>
          </a:prstGeom>
          <a:solidFill>
            <a:srgbClr val="132040"/>
          </a:solidFill>
          <a:ln w="6350">
            <a:solidFill>
              <a:srgbClr val="D0DFFF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pic>
        <p:nvPicPr>
          <p:cNvPr id="22" name="Image 1" descr="preencoded.png">
            <a:extLst>
              <a:ext uri="{FF2B5EF4-FFF2-40B4-BE49-F238E27FC236}">
                <a16:creationId xmlns:a16="http://schemas.microsoft.com/office/drawing/2014/main" id="{E3B9107E-BF65-CEC4-A00F-64AA7F869D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576060"/>
            <a:ext cx="813501" cy="24384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F4DE27E-C4C3-7609-7606-2619DFAF80CB}"/>
              </a:ext>
            </a:extLst>
          </p:cNvPr>
          <p:cNvSpPr txBox="1"/>
          <p:nvPr/>
        </p:nvSpPr>
        <p:spPr>
          <a:xfrm>
            <a:off x="998878" y="3951042"/>
            <a:ext cx="4807562" cy="5103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 dirty="0">
                <a:solidFill>
                  <a:srgbClr val="F26522"/>
                </a:solidFill>
                <a:latin typeface="Calibri"/>
              </a:rPr>
              <a:t>RISING STAR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 dirty="0">
                <a:solidFill>
                  <a:srgbClr val="FFFFFF"/>
                </a:solidFill>
                <a:latin typeface="Calibri"/>
              </a:rPr>
              <a:t>Prakash Bagsariya  ·  Krupal </a:t>
            </a:r>
            <a:r>
              <a:rPr sz="1350" b="0" i="0" dirty="0" err="1">
                <a:solidFill>
                  <a:srgbClr val="FFFFFF"/>
                </a:solidFill>
                <a:latin typeface="Calibri"/>
              </a:rPr>
              <a:t>Tasare</a:t>
            </a:r>
            <a:endParaRPr sz="1350" b="0" i="0" dirty="0">
              <a:solidFill>
                <a:srgbClr val="FFFFFF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46121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5760" y="365760"/>
            <a:ext cx="11457432" cy="61264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365760"/>
            <a:ext cx="6400800" cy="6126480"/>
          </a:xfrm>
          <a:prstGeom prst="roundRect">
            <a:avLst>
              <a:gd name="adj" fmla="val 2500"/>
            </a:avLst>
          </a:prstGeom>
          <a:solidFill>
            <a:srgbClr val="EA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68680" y="777240"/>
            <a:ext cx="2468880" cy="329184"/>
          </a:xfrm>
          <a:prstGeom prst="roundRect">
            <a:avLst>
              <a:gd name="adj" fmla="val 50000"/>
            </a:avLst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PROBLEM &amp;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1036015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B2A4A"/>
                </a:solidFill>
                <a:latin typeface="Georgia"/>
              </a:rPr>
              <a:t>What problem are you solving?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148840"/>
            <a:ext cx="50749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313432"/>
            <a:ext cx="4617720" cy="7589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B2A4A"/>
                </a:solidFill>
                <a:latin typeface="Calibri"/>
              </a:rPr>
              <a:t>Problem Statement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8A97B0"/>
                </a:solidFill>
                <a:latin typeface="Calibri"/>
              </a:rPr>
              <a:t>Applying for leave is slow and error-prone: HRMS forms, cryptic leave codes, hidden balances/policies, and manual routing.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310128"/>
            <a:ext cx="2450592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3474720"/>
            <a:ext cx="1993392" cy="941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B2A4A"/>
                </a:solidFill>
                <a:latin typeface="Calibri"/>
              </a:rPr>
              <a:t>Use Case at ING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8A97B0"/>
                </a:solidFill>
                <a:latin typeface="Calibri"/>
              </a:rPr>
              <a:t>Every employee applying for leave and every manager approving it — across all teams.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3008" y="3310128"/>
            <a:ext cx="2450592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21608" y="3474720"/>
            <a:ext cx="1993392" cy="941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B2A4A"/>
                </a:solidFill>
                <a:latin typeface="Calibri"/>
              </a:rPr>
              <a:t>Who Is Affected?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8A97B0"/>
                </a:solidFill>
                <a:latin typeface="Calibri"/>
              </a:rPr>
              <a:t>Employees, managers, and HR / Operations.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4663440"/>
            <a:ext cx="50749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4828031"/>
            <a:ext cx="461772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B2A4A"/>
                </a:solidFill>
                <a:latin typeface="Calibri"/>
              </a:rPr>
              <a:t>Why Solve It Now?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8A97B0"/>
                </a:solidFill>
                <a:latin typeface="Calibri"/>
              </a:rPr>
              <a:t>Leave is high-volume and repetitive — small frictions and errors scale across the whole org.</a:t>
            </a:r>
          </a:p>
        </p:txBody>
      </p:sp>
      <p:sp>
        <p:nvSpPr>
          <p:cNvPr id="14" name="Oval 13"/>
          <p:cNvSpPr/>
          <p:nvPr/>
        </p:nvSpPr>
        <p:spPr>
          <a:xfrm>
            <a:off x="6949440" y="1234440"/>
            <a:ext cx="384048" cy="384048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1188720"/>
            <a:ext cx="3931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F26522"/>
                </a:solidFill>
                <a:latin typeface="Calibri"/>
              </a:rPr>
              <a:t>Current Pain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4587A"/>
                </a:solidFill>
                <a:latin typeface="Calibri"/>
              </a:rPr>
              <a:t>Employees fight forms &amp; codes; managers get scattered requests in email/chat that are easy to miss.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0" y="2057400"/>
            <a:ext cx="4434840" cy="10972"/>
          </a:xfrm>
          <a:prstGeom prst="rect">
            <a:avLst/>
          </a:prstGeom>
          <a:solidFill>
            <a:srgbClr val="D9E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949440" y="2313432"/>
            <a:ext cx="384048" cy="384048"/>
          </a:xfrm>
          <a:prstGeom prst="ellipse">
            <a:avLst/>
          </a:prstGeom>
          <a:solidFill>
            <a:srgbClr val="1C8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2267712"/>
            <a:ext cx="3931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2E5C9A"/>
                </a:solidFill>
                <a:latin typeface="Calibri"/>
              </a:rPr>
              <a:t>Scale of Impact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4587A"/>
                </a:solidFill>
                <a:latin typeface="Calibri"/>
              </a:rPr>
              <a:t>Thousands of leave requests a year, org-wide — every one is manual today.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3136391"/>
            <a:ext cx="4434840" cy="10972"/>
          </a:xfrm>
          <a:prstGeom prst="rect">
            <a:avLst/>
          </a:prstGeom>
          <a:solidFill>
            <a:srgbClr val="D9E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949440" y="3392424"/>
            <a:ext cx="384048" cy="384048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3346704"/>
            <a:ext cx="3931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F26522"/>
                </a:solidFill>
                <a:latin typeface="Calibri"/>
              </a:rPr>
              <a:t>Business Relevance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4587A"/>
                </a:solidFill>
                <a:latin typeface="Calibri"/>
              </a:rPr>
              <a:t>Theme: Experience + Automate. Less HR overhead, fewer errors, happier employees.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4526280"/>
            <a:ext cx="4526280" cy="1051560"/>
          </a:xfrm>
          <a:prstGeom prst="roundRect">
            <a:avLst>
              <a:gd name="adj" fmla="val 6000"/>
            </a:avLst>
          </a:prstGeom>
          <a:solidFill>
            <a:srgbClr val="FDEEE2"/>
          </a:solidFill>
          <a:ln w="15240">
            <a:solidFill>
              <a:srgbClr val="F265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78040" y="4681728"/>
            <a:ext cx="40233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1B2A4A"/>
                </a:solidFill>
                <a:latin typeface="Calibri"/>
              </a:rPr>
              <a:t>In one sentence: the problem is manual, error-prone leave management, affecting every employee &amp; manager, costing time and accuracy.</a:t>
            </a:r>
          </a:p>
        </p:txBody>
      </p:sp>
      <p:pic>
        <p:nvPicPr>
          <p:cNvPr id="24" name="Picture 23" descr="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6108192"/>
            <a:ext cx="658397" cy="20208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297680" y="60807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E5C9A"/>
                </a:solidFill>
                <a:latin typeface="Calibri"/>
              </a:rPr>
              <a:t>Global Cognizant ING Hackathon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08792" y="608076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B2A4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54875" y="547725"/>
            <a:ext cx="11457432" cy="5885731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68680" y="77724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4410891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B2A4A"/>
                </a:solidFill>
                <a:latin typeface="Georgia"/>
              </a:rPr>
              <a:t>What's the Hack?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764792"/>
            <a:ext cx="49377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79" y="1853325"/>
            <a:ext cx="4615891" cy="78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 dirty="0">
                <a:solidFill>
                  <a:srgbClr val="1B2A4A"/>
                </a:solidFill>
                <a:latin typeface="Calibri"/>
              </a:rPr>
              <a:t>Solution in a Nutshell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1" dirty="0">
                <a:solidFill>
                  <a:srgbClr val="8A97B0"/>
                </a:solidFill>
                <a:latin typeface="Calibri"/>
              </a:rPr>
              <a:t>An AI agent: tell it your leave in plain English. It extracts a structured request, validates every rule, shows a confirmation card, and routes it to the right manager.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961223"/>
            <a:ext cx="4937760" cy="116272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3071330"/>
            <a:ext cx="4615890" cy="78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 dirty="0">
                <a:solidFill>
                  <a:srgbClr val="1B2A4A"/>
                </a:solidFill>
                <a:latin typeface="Calibri"/>
              </a:rPr>
              <a:t>How It Works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1" dirty="0">
                <a:solidFill>
                  <a:srgbClr val="8A97B0"/>
                </a:solidFill>
                <a:latin typeface="Calibri"/>
              </a:rPr>
              <a:t>Input: a chat message → Processing: Claude drafts + deterministic rules validate (balance, doc policy, overlap) → Output: confirmation card, submission, dept-routed approval + email.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1" y="4281557"/>
            <a:ext cx="111252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 dirty="0">
                <a:solidFill>
                  <a:srgbClr val="8A97B0"/>
                </a:solidFill>
                <a:latin typeface="Calibri"/>
              </a:rPr>
              <a:t>TECH STACK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0363" y="4474913"/>
            <a:ext cx="1205266" cy="225103"/>
          </a:xfrm>
          <a:prstGeom prst="roundRect">
            <a:avLst>
              <a:gd name="adj" fmla="val 50000"/>
            </a:avLst>
          </a:prstGeom>
          <a:solidFill>
            <a:srgbClr val="10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lang="en-US" sz="950" b="1" i="0" dirty="0">
                <a:solidFill>
                  <a:srgbClr val="FFFFFF"/>
                </a:solidFill>
                <a:latin typeface="Calibri"/>
              </a:rPr>
              <a:t>AI</a:t>
            </a:r>
            <a:r>
              <a:rPr sz="950" b="1" i="0" dirty="0">
                <a:solidFill>
                  <a:srgbClr val="FFFFFF"/>
                </a:solidFill>
                <a:latin typeface="Calibri"/>
              </a:rPr>
              <a:t> / GenAI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45357" y="4474913"/>
            <a:ext cx="1205266" cy="239023"/>
          </a:xfrm>
          <a:prstGeom prst="roundRect">
            <a:avLst>
              <a:gd name="adj" fmla="val 50000"/>
            </a:avLst>
          </a:prstGeom>
          <a:solidFill>
            <a:srgbClr val="10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Python · FastAPI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0351" y="4461137"/>
            <a:ext cx="913486" cy="266574"/>
          </a:xfrm>
          <a:prstGeom prst="roundRect">
            <a:avLst>
              <a:gd name="adj" fmla="val 50000"/>
            </a:avLst>
          </a:prstGeom>
          <a:solidFill>
            <a:srgbClr val="10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SQLite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49402" y="4441466"/>
            <a:ext cx="1132941" cy="277145"/>
          </a:xfrm>
          <a:prstGeom prst="roundRect">
            <a:avLst>
              <a:gd name="adj" fmla="val 50000"/>
            </a:avLst>
          </a:prstGeom>
          <a:solidFill>
            <a:srgbClr val="10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Tailwind / JS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26756" y="4846320"/>
            <a:ext cx="715060" cy="310896"/>
          </a:xfrm>
          <a:prstGeom prst="roundRect">
            <a:avLst>
              <a:gd name="adj" fmla="val 50000"/>
            </a:avLst>
          </a:prstGeom>
          <a:solidFill>
            <a:srgbClr val="10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SMTP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838216"/>
            <a:ext cx="4937760" cy="12699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65059" y="4928489"/>
            <a:ext cx="4617284" cy="6129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 dirty="0">
                <a:solidFill>
                  <a:srgbClr val="1B2A4A"/>
                </a:solidFill>
                <a:latin typeface="Calibri"/>
              </a:rPr>
              <a:t>Software Craftsmanship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1" dirty="0">
                <a:solidFill>
                  <a:srgbClr val="8A97B0"/>
                </a:solidFill>
                <a:latin typeface="Calibri"/>
              </a:rPr>
              <a:t>Deterministic guardrails, confirmation gate, role-based auth, dept routing, auto-approval SLA, audit log.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874519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 dirty="0">
                <a:solidFill>
                  <a:srgbClr val="1B2A4A"/>
                </a:solidFill>
                <a:latin typeface="Calibri"/>
              </a:rPr>
              <a:t>Architecture / Solution Flow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2286000"/>
            <a:ext cx="1508760" cy="914400"/>
          </a:xfrm>
          <a:prstGeom prst="roundRect">
            <a:avLst>
              <a:gd name="adj" fmla="val 8000"/>
            </a:avLst>
          </a:prstGeom>
          <a:solidFill>
            <a:srgbClr val="10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29400" y="2432304"/>
            <a:ext cx="1234439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Input / Trigger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C9D6EC"/>
                </a:solidFill>
                <a:latin typeface="Calibri"/>
              </a:rPr>
              <a:t>Employee chat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2542032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26522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2286000"/>
            <a:ext cx="1508760" cy="914400"/>
          </a:xfrm>
          <a:prstGeom prst="roundRect">
            <a:avLst>
              <a:gd name="adj" fmla="val 8000"/>
            </a:avLst>
          </a:prstGeom>
          <a:solidFill>
            <a:srgbClr val="10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58200" y="2557419"/>
            <a:ext cx="1234439" cy="389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 dirty="0">
                <a:solidFill>
                  <a:srgbClr val="FFFFFF"/>
                </a:solidFill>
                <a:latin typeface="Calibri"/>
              </a:rPr>
              <a:t>Processing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lang="en-US" sz="950" b="0" i="0" dirty="0">
                <a:solidFill>
                  <a:srgbClr val="C9D6EC"/>
                </a:solidFill>
                <a:latin typeface="Calibri"/>
              </a:rPr>
              <a:t>AI</a:t>
            </a:r>
            <a:r>
              <a:rPr sz="950" b="0" i="0" dirty="0">
                <a:solidFill>
                  <a:srgbClr val="C9D6EC"/>
                </a:solidFill>
                <a:latin typeface="Calibri"/>
              </a:rPr>
              <a:t> + Rules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57232" y="2542032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26522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49840" y="228600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287000" y="2432304"/>
            <a:ext cx="1005839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Output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C9D6EC"/>
                </a:solidFill>
                <a:latin typeface="Calibri"/>
              </a:rPr>
              <a:t>Card → approve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3383280"/>
            <a:ext cx="4937760" cy="27249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812280" y="3607092"/>
            <a:ext cx="4297680" cy="247321"/>
          </a:xfrm>
          <a:prstGeom prst="roundRect">
            <a:avLst>
              <a:gd name="adj" fmla="val 12000"/>
            </a:avLst>
          </a:prstGeom>
          <a:solidFill>
            <a:srgbClr val="EA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49440" y="3511296"/>
            <a:ext cx="40233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B2A4A"/>
                </a:solidFill>
                <a:latin typeface="Calibri"/>
              </a:rPr>
              <a:t>Chat UI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877056"/>
            <a:ext cx="36576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 dirty="0">
                <a:solidFill>
                  <a:srgbClr val="F26522"/>
                </a:solidFill>
                <a:latin typeface="Calibri"/>
              </a:rPr>
              <a:t>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12280" y="4009428"/>
            <a:ext cx="4297680" cy="247321"/>
          </a:xfrm>
          <a:prstGeom prst="roundRect">
            <a:avLst>
              <a:gd name="adj" fmla="val 12000"/>
            </a:avLst>
          </a:prstGeom>
          <a:solidFill>
            <a:srgbClr val="10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49440" y="3968496"/>
            <a:ext cx="40233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FastAPI orchestrator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60" y="4279392"/>
            <a:ext cx="36576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26522"/>
                </a:solidFill>
                <a:latin typeface="Calibri"/>
              </a:rPr>
              <a:t>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12280" y="4423006"/>
            <a:ext cx="4297680" cy="224837"/>
          </a:xfrm>
          <a:prstGeom prst="roundRect">
            <a:avLst>
              <a:gd name="adj" fmla="val 12000"/>
            </a:avLst>
          </a:prstGeom>
          <a:solidFill>
            <a:srgbClr val="EA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949440" y="4450785"/>
            <a:ext cx="402336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100" b="1" i="0" dirty="0">
                <a:solidFill>
                  <a:srgbClr val="1B2A4A"/>
                </a:solidFill>
                <a:latin typeface="Calibri"/>
              </a:rPr>
              <a:t>AI/</a:t>
            </a:r>
            <a:r>
              <a:rPr sz="1100" b="1" i="0" dirty="0">
                <a:solidFill>
                  <a:srgbClr val="1B2A4A"/>
                </a:solidFill>
                <a:latin typeface="Calibri"/>
              </a:rPr>
              <a:t>Claude  +  Rules engine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4681728"/>
            <a:ext cx="36576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26522"/>
                </a:solidFill>
                <a:latin typeface="Calibri"/>
              </a:rPr>
              <a:t>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12280" y="4814100"/>
            <a:ext cx="4297680" cy="247321"/>
          </a:xfrm>
          <a:prstGeom prst="roundRect">
            <a:avLst>
              <a:gd name="adj" fmla="val 12000"/>
            </a:avLst>
          </a:prstGeom>
          <a:solidFill>
            <a:srgbClr val="EA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949440" y="4773168"/>
            <a:ext cx="40233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B2A4A"/>
                </a:solidFill>
                <a:latin typeface="Calibri"/>
              </a:rPr>
              <a:t>SQLite store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23960" y="5084064"/>
            <a:ext cx="36576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26522"/>
                </a:solidFill>
                <a:latin typeface="Calibri"/>
              </a:rPr>
              <a:t>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12280" y="5216436"/>
            <a:ext cx="4297680" cy="247321"/>
          </a:xfrm>
          <a:prstGeom prst="roundRect">
            <a:avLst>
              <a:gd name="adj" fmla="val 12000"/>
            </a:avLst>
          </a:prstGeom>
          <a:solidFill>
            <a:srgbClr val="FD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949440" y="5175504"/>
            <a:ext cx="40233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B2A4A"/>
                </a:solidFill>
                <a:latin typeface="Calibri"/>
              </a:rPr>
              <a:t>Confirmation gate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23960" y="5486400"/>
            <a:ext cx="36576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26522"/>
                </a:solidFill>
                <a:latin typeface="Calibri"/>
              </a:rPr>
              <a:t>↓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12280" y="5606406"/>
            <a:ext cx="4297680" cy="272053"/>
          </a:xfrm>
          <a:prstGeom prst="roundRect">
            <a:avLst>
              <a:gd name="adj" fmla="val 12000"/>
            </a:avLst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949440" y="5592803"/>
            <a:ext cx="4023360" cy="2992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 dirty="0">
                <a:solidFill>
                  <a:srgbClr val="FFFFFF"/>
                </a:solidFill>
                <a:latin typeface="Calibri"/>
              </a:rPr>
              <a:t>Manager approval (by dept) + email</a:t>
            </a:r>
          </a:p>
        </p:txBody>
      </p:sp>
      <p:pic>
        <p:nvPicPr>
          <p:cNvPr id="44" name="Picture 43" descr="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6108192"/>
            <a:ext cx="658397" cy="20208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4297680" y="60807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E5C9A"/>
                </a:solidFill>
                <a:latin typeface="Calibri"/>
              </a:rPr>
              <a:t>Global Cognizant ING Hackathon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08792" y="608076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B2A4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5760" y="365760"/>
            <a:ext cx="11457432" cy="61264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68680" y="777240"/>
            <a:ext cx="2468880" cy="329184"/>
          </a:xfrm>
          <a:prstGeom prst="roundRect">
            <a:avLst>
              <a:gd name="adj" fmla="val 50000"/>
            </a:avLst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WORKING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1036015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B2A4A"/>
                </a:solidFill>
                <a:latin typeface="Georgia"/>
              </a:rPr>
              <a:t>Show us what you built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103120"/>
            <a:ext cx="6400800" cy="3657600"/>
          </a:xfrm>
          <a:prstGeom prst="roundRect">
            <a:avLst>
              <a:gd name="adj" fmla="val 4000"/>
            </a:avLst>
          </a:prstGeom>
          <a:solidFill>
            <a:srgbClr val="EAF0FB"/>
          </a:solidFill>
          <a:ln w="12700">
            <a:solidFill>
              <a:srgbClr val="D9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_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" y="2592112"/>
            <a:ext cx="6126480" cy="224070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68680" y="5321808"/>
            <a:ext cx="6400800" cy="438912"/>
          </a:xfrm>
          <a:prstGeom prst="rect">
            <a:avLst/>
          </a:prstGeom>
          <a:solidFill>
            <a:srgbClr val="10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5321808"/>
            <a:ext cx="60350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 dirty="0">
                <a:solidFill>
                  <a:srgbClr val="FFFFFF"/>
                </a:solidFill>
                <a:latin typeface="Calibri"/>
              </a:rPr>
              <a:t>Status: [ Working prototype / MVP ]   Repo: </a:t>
            </a:r>
            <a:r>
              <a:rPr sz="1100" b="1" i="0" dirty="0" err="1">
                <a:solidFill>
                  <a:srgbClr val="FFFFFF"/>
                </a:solidFill>
                <a:latin typeface="Calibri"/>
              </a:rPr>
              <a:t>github.com</a:t>
            </a:r>
            <a:r>
              <a:rPr sz="1100" b="1" i="0" dirty="0">
                <a:solidFill>
                  <a:srgbClr val="FFFFFF"/>
                </a:solidFill>
                <a:latin typeface="Calibri"/>
              </a:rPr>
              <a:t>/</a:t>
            </a:r>
            <a:r>
              <a:rPr sz="1100" b="1" i="0" dirty="0" err="1">
                <a:solidFill>
                  <a:srgbClr val="FFFFFF"/>
                </a:solidFill>
                <a:latin typeface="Calibri"/>
              </a:rPr>
              <a:t>pbagsariya</a:t>
            </a:r>
            <a:r>
              <a:rPr sz="1100" b="1" i="0" dirty="0">
                <a:solidFill>
                  <a:srgbClr val="FFFFFF"/>
                </a:solidFill>
                <a:latin typeface="Calibri"/>
              </a:rPr>
              <a:t>/AI-Leave-System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2103120"/>
            <a:ext cx="3886200" cy="1170432"/>
          </a:xfrm>
          <a:prstGeom prst="roundRect">
            <a:avLst>
              <a:gd name="adj" fmla="val 6000"/>
            </a:avLst>
          </a:prstGeom>
          <a:solidFill>
            <a:srgbClr val="EAF0FB"/>
          </a:solidFill>
          <a:ln w="12700">
            <a:solidFill>
              <a:srgbClr val="D9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799831" y="2331720"/>
            <a:ext cx="457200" cy="457200"/>
          </a:xfrm>
          <a:prstGeom prst="ellipse">
            <a:avLst/>
          </a:prstGeom>
          <a:solidFill>
            <a:srgbClr val="1C8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2304288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B2A4A"/>
                </a:solidFill>
                <a:latin typeface="Georgia"/>
              </a:rPr>
              <a:t>Feature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265176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4587A"/>
                </a:solidFill>
                <a:latin typeface="Calibri"/>
              </a:rPr>
              <a:t>Apply in plain English — dates, type &amp; reason parsed automatically.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3401568"/>
            <a:ext cx="3886200" cy="1170432"/>
          </a:xfrm>
          <a:prstGeom prst="roundRect">
            <a:avLst>
              <a:gd name="adj" fmla="val 6000"/>
            </a:avLst>
          </a:prstGeom>
          <a:solidFill>
            <a:srgbClr val="FDEEE2"/>
          </a:solidFill>
          <a:ln w="12700">
            <a:solidFill>
              <a:srgbClr val="D9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799831" y="3630168"/>
            <a:ext cx="457200" cy="457200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602736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B2A4A"/>
                </a:solidFill>
                <a:latin typeface="Georgia"/>
              </a:rPr>
              <a:t>Feature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950207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4587A"/>
                </a:solidFill>
                <a:latin typeface="Calibri"/>
              </a:rPr>
              <a:t>Department approvals — routed to your team's manager; approve/reject with comments.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4700016"/>
            <a:ext cx="3886200" cy="1170432"/>
          </a:xfrm>
          <a:prstGeom prst="roundRect">
            <a:avLst>
              <a:gd name="adj" fmla="val 6000"/>
            </a:avLst>
          </a:prstGeom>
          <a:solidFill>
            <a:srgbClr val="EAF0FB"/>
          </a:solidFill>
          <a:ln w="12700">
            <a:solidFill>
              <a:srgbClr val="D9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799831" y="4928616"/>
            <a:ext cx="457200" cy="457200"/>
          </a:xfrm>
          <a:prstGeom prst="ellipse">
            <a:avLst/>
          </a:prstGeom>
          <a:solidFill>
            <a:srgbClr val="10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4901183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B2A4A"/>
                </a:solidFill>
                <a:latin typeface="Georgia"/>
              </a:rPr>
              <a:t>Feature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5248655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4587A"/>
                </a:solidFill>
                <a:latin typeface="Calibri"/>
              </a:rPr>
              <a:t>Guardrails + SLA — balance / overlap checks; sick leave auto-approves after 3 days.</a:t>
            </a:r>
          </a:p>
        </p:txBody>
      </p:sp>
      <p:pic>
        <p:nvPicPr>
          <p:cNvPr id="21" name="Picture 20" descr="_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6108192"/>
            <a:ext cx="658397" cy="20208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297680" y="60807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E5C9A"/>
                </a:solidFill>
                <a:latin typeface="Calibri"/>
              </a:rPr>
              <a:t>Global Cognizant ING Hackathon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08792" y="608076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B2A4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5760" y="365760"/>
            <a:ext cx="11457432" cy="61264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68680" y="777240"/>
            <a:ext cx="2926080" cy="329184"/>
          </a:xfrm>
          <a:prstGeom prst="roundRect">
            <a:avLst>
              <a:gd name="adj" fmla="val 50000"/>
            </a:avLst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IMPACT &amp; BUSINESS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1036015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B2A4A"/>
                </a:solidFill>
                <a:latin typeface="Georgia"/>
              </a:rPr>
              <a:t>Why does it matter?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103120"/>
            <a:ext cx="3566160" cy="1783080"/>
          </a:xfrm>
          <a:prstGeom prst="roundRect">
            <a:avLst>
              <a:gd name="adj" fmla="val 5000"/>
            </a:avLst>
          </a:prstGeom>
          <a:solidFill>
            <a:srgbClr val="10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2286000"/>
            <a:ext cx="32004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Georgia"/>
              </a:rPr>
              <a:t>~90%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06324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Less time per 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40156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FFFFFF"/>
                </a:solidFill>
                <a:latin typeface="Calibri"/>
              </a:rPr>
              <a:t>Seconds vs minutes of forms &amp; codes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2103120"/>
            <a:ext cx="3566160" cy="1783080"/>
          </a:xfrm>
          <a:prstGeom prst="roundRect">
            <a:avLst>
              <a:gd name="adj" fmla="val 5000"/>
            </a:avLst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00600" y="2286000"/>
            <a:ext cx="32004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Georgia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306324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Invalid requests submitted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340156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FFFFFF"/>
                </a:solidFill>
                <a:latin typeface="Calibri"/>
              </a:rPr>
              <a:t>Balance · policy · overlap checks block them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59" y="2103120"/>
            <a:ext cx="3566160" cy="1783080"/>
          </a:xfrm>
          <a:prstGeom prst="roundRect">
            <a:avLst>
              <a:gd name="adj" fmla="val 5000"/>
            </a:avLst>
          </a:prstGeom>
          <a:solidFill>
            <a:srgbClr val="2E5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49639" y="2286000"/>
            <a:ext cx="32004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Georgia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39" y="306324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Routed to the right manager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59" y="340156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FFFFFF"/>
                </a:solidFill>
                <a:latin typeface="Calibri"/>
              </a:rPr>
              <a:t>By department, automatically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114800"/>
            <a:ext cx="5257800" cy="1572768"/>
          </a:xfrm>
          <a:prstGeom prst="roundRect">
            <a:avLst>
              <a:gd name="adj" fmla="val 5000"/>
            </a:avLst>
          </a:prstGeom>
          <a:solidFill>
            <a:srgbClr val="EAF0FB"/>
          </a:solidFill>
          <a:ln w="12700">
            <a:solidFill>
              <a:srgbClr val="D9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3000" y="429768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B2A4A"/>
                </a:solidFill>
                <a:latin typeface="Calibri"/>
              </a:rPr>
              <a:t>Quantifiable Benefits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570127"/>
            <a:ext cx="4397829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 dirty="0">
                <a:solidFill>
                  <a:srgbClr val="44587A"/>
                </a:solidFill>
                <a:latin typeface="Calibri"/>
              </a:rPr>
              <a:t>•  Apply in plain English — no leave codes or forms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 dirty="0">
                <a:solidFill>
                  <a:srgbClr val="44587A"/>
                </a:solidFill>
                <a:latin typeface="Calibri"/>
              </a:rPr>
              <a:t>•  Guardrails stop balance / overlap / policy errors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 dirty="0">
                <a:solidFill>
                  <a:srgbClr val="44587A"/>
                </a:solidFill>
                <a:latin typeface="Calibri"/>
              </a:rPr>
              <a:t>•  Auto-routing + 3-day sick-leave SLA — nothing stuck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 dirty="0">
                <a:solidFill>
                  <a:srgbClr val="44587A"/>
                </a:solidFill>
                <a:latin typeface="Calibri"/>
              </a:rPr>
              <a:t>•  Audit trail + email on every decision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114800"/>
            <a:ext cx="5166360" cy="1572768"/>
          </a:xfrm>
          <a:prstGeom prst="roundRect">
            <a:avLst>
              <a:gd name="adj" fmla="val 5000"/>
            </a:avLst>
          </a:prstGeom>
          <a:solidFill>
            <a:srgbClr val="EAF0FB"/>
          </a:solidFill>
          <a:ln w="12700">
            <a:solidFill>
              <a:srgbClr val="D9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7960" y="429768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B2A4A"/>
                </a:solidFill>
                <a:latin typeface="Calibri"/>
              </a:rPr>
              <a:t>Alignment &amp; Risks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570127"/>
            <a:ext cx="4370832" cy="10077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 dirty="0">
                <a:solidFill>
                  <a:srgbClr val="44587A"/>
                </a:solidFill>
                <a:latin typeface="Calibri"/>
              </a:rPr>
              <a:t>Hackathon theme: Experience / Automate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 dirty="0">
                <a:solidFill>
                  <a:srgbClr val="44587A"/>
                </a:solidFill>
                <a:latin typeface="Calibri"/>
              </a:rPr>
              <a:t>ING goal: simpler, faster employee experience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 dirty="0">
                <a:solidFill>
                  <a:srgbClr val="44587A"/>
                </a:solidFill>
                <a:latin typeface="Calibri"/>
              </a:rPr>
              <a:t>Key assumption: extraction quality (mitigated by deterministic checks + offline fallback)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 dirty="0">
                <a:solidFill>
                  <a:srgbClr val="44587A"/>
                </a:solidFill>
                <a:latin typeface="Calibri"/>
              </a:rPr>
              <a:t>Risks: HRMS / SSO integration, email deliverability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760720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8A97B0"/>
                </a:solidFill>
                <a:latin typeface="Calibri"/>
              </a:rPr>
              <a:t>Estimates based on the working prototype.</a:t>
            </a:r>
          </a:p>
        </p:txBody>
      </p:sp>
      <p:pic>
        <p:nvPicPr>
          <p:cNvPr id="24" name="Picture 23" descr="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6108192"/>
            <a:ext cx="658397" cy="20208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297680" y="60807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E5C9A"/>
                </a:solidFill>
                <a:latin typeface="Calibri"/>
              </a:rPr>
              <a:t>Global Cognizant ING Hackathon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08792" y="608076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B2A4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5760" y="365760"/>
            <a:ext cx="11457432" cy="6126480"/>
          </a:xfrm>
          <a:prstGeom prst="roundRect">
            <a:avLst>
              <a:gd name="adj" fmla="val 2500"/>
            </a:avLst>
          </a:prstGeom>
          <a:solidFill>
            <a:srgbClr val="152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869680" y="3657600"/>
            <a:ext cx="4023360" cy="4023360"/>
          </a:xfrm>
          <a:prstGeom prst="ellipse">
            <a:avLst/>
          </a:prstGeom>
          <a:solidFill>
            <a:srgbClr val="15223C"/>
          </a:solidFill>
          <a:ln w="25400">
            <a:solidFill>
              <a:srgbClr val="F265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555480" y="4343400"/>
            <a:ext cx="2651760" cy="2651760"/>
          </a:xfrm>
          <a:prstGeom prst="ellipse">
            <a:avLst/>
          </a:prstGeom>
          <a:noFill/>
          <a:ln w="19050">
            <a:solidFill>
              <a:srgbClr val="F265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68680" y="77724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TEAM &amp; ART OF POSSIBLE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34440"/>
            <a:ext cx="1036015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Georgia"/>
              </a:rPr>
              <a:t>The team behind the hack + what comes next</a:t>
            </a:r>
          </a:p>
        </p:txBody>
      </p:sp>
      <p:sp>
        <p:nvSpPr>
          <p:cNvPr id="7" name="Oval 6"/>
          <p:cNvSpPr/>
          <p:nvPr/>
        </p:nvSpPr>
        <p:spPr>
          <a:xfrm>
            <a:off x="1554480" y="2148840"/>
            <a:ext cx="914400" cy="914400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Georgia"/>
              </a:rPr>
              <a:t>PB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4612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Prakash Bagsariya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6616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C9D6EC"/>
                </a:solidFill>
                <a:latin typeface="Calibri"/>
              </a:rPr>
              <a:t>Lead Developer</a:t>
            </a:r>
          </a:p>
        </p:txBody>
      </p:sp>
      <p:sp>
        <p:nvSpPr>
          <p:cNvPr id="10" name="Oval 9"/>
          <p:cNvSpPr/>
          <p:nvPr/>
        </p:nvSpPr>
        <p:spPr>
          <a:xfrm>
            <a:off x="4572000" y="2148840"/>
            <a:ext cx="914400" cy="914400"/>
          </a:xfrm>
          <a:prstGeom prst="ellipse">
            <a:avLst/>
          </a:prstGeom>
          <a:solidFill>
            <a:srgbClr val="1C8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Georgia"/>
              </a:rPr>
              <a:t>KT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324612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Krupal Tasare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56616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C9D6EC"/>
                </a:solidFill>
                <a:latin typeface="Calibri"/>
              </a:rPr>
              <a:t>Developer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069080"/>
            <a:ext cx="7040880" cy="1600200"/>
          </a:xfrm>
          <a:prstGeom prst="roundRect">
            <a:avLst>
              <a:gd name="adj" fmla="val 5000"/>
            </a:avLst>
          </a:prstGeom>
          <a:noFill/>
          <a:ln w="15240">
            <a:solidFill>
              <a:srgbClr val="F265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783080" y="4315968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26522"/>
                </a:solidFill>
                <a:latin typeface="Calibri"/>
              </a:rPr>
              <a:t>Art of Possible — Broader Vision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864608"/>
            <a:ext cx="6492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Phase 1 (Done): Working app — NL apply, validation, dept approvals, notifications, auth.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Phase 2 (Next): Microsoft Teams bot; richer policies &amp; reminders.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Phase 3 (Future): Live HRMS + SSO, multi-language, analytics dashboard.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15000"/>
            <a:ext cx="7040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F26522"/>
                </a:solidFill>
                <a:latin typeface="Georgia"/>
              </a:rPr>
              <a:t>SimplifyING  ·  AutomatING  ·  InnovatING</a:t>
            </a:r>
          </a:p>
        </p:txBody>
      </p:sp>
      <p:pic>
        <p:nvPicPr>
          <p:cNvPr id="18" name="Picture 17" descr="cognizant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6108192"/>
            <a:ext cx="658397" cy="20208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297680" y="60807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C9D6EC"/>
                </a:solidFill>
                <a:latin typeface="Calibri"/>
              </a:rPr>
              <a:t>Global Cognizant ING Hackathon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08792" y="608076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pic>
        <p:nvPicPr>
          <p:cNvPr id="21" name="Image 0" descr="preencoded.png">
            <a:extLst>
              <a:ext uri="{FF2B5EF4-FFF2-40B4-BE49-F238E27FC236}">
                <a16:creationId xmlns:a16="http://schemas.microsoft.com/office/drawing/2014/main" id="{8E7565D9-2710-1AFD-19DC-813DE3128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457" y="4270248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711</Words>
  <Application>Microsoft Macintosh PowerPoint</Application>
  <PresentationFormat>Widescreen</PresentationFormat>
  <Paragraphs>121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Bagsariya, P. (Prakash)</cp:lastModifiedBy>
  <cp:revision>17</cp:revision>
  <dcterms:created xsi:type="dcterms:W3CDTF">2013-01-27T09:14:16Z</dcterms:created>
  <dcterms:modified xsi:type="dcterms:W3CDTF">2026-06-18T06:25:43Z</dcterms:modified>
  <cp:category/>
</cp:coreProperties>
</file>