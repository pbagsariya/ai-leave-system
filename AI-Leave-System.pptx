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27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152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915400" y="-1143000"/>
            <a:ext cx="3566160" cy="3566160"/>
          </a:xfrm>
          <a:prstGeom prst="ellipse">
            <a:avLst/>
          </a:prstGeom>
          <a:solidFill>
            <a:srgbClr val="15223C"/>
          </a:solidFill>
          <a:ln w="2540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555480" y="-502920"/>
            <a:ext cx="2286000" cy="2286000"/>
          </a:xfrm>
          <a:prstGeom prst="ellipse">
            <a:avLst/>
          </a:prstGeom>
          <a:noFill/>
          <a:ln w="1905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92640" y="411480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26522"/>
                </a:solidFill>
                <a:latin typeface="Calibri"/>
              </a:rPr>
              <a:t>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75720" y="1554480"/>
            <a:ext cx="411480" cy="3017520"/>
          </a:xfrm>
          <a:prstGeom prst="roundRect">
            <a:avLst>
              <a:gd name="adj" fmla="val 3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 rot="16200000">
            <a:off x="10378440" y="2880360"/>
            <a:ext cx="265176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CodING is my cardio</a:t>
            </a:r>
          </a:p>
        </p:txBody>
      </p:sp>
      <p:sp>
        <p:nvSpPr>
          <p:cNvPr id="8" name="Oval 7"/>
          <p:cNvSpPr/>
          <p:nvPr/>
        </p:nvSpPr>
        <p:spPr>
          <a:xfrm>
            <a:off x="-777240" y="4983480"/>
            <a:ext cx="2286000" cy="2286000"/>
          </a:xfrm>
          <a:prstGeom prst="ellipse">
            <a:avLst/>
          </a:prstGeom>
          <a:solidFill>
            <a:srgbClr val="15223C"/>
          </a:solidFill>
          <a:ln w="1905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" y="5989320"/>
            <a:ext cx="697126" cy="213969"/>
          </a:xfrm>
          <a:prstGeom prst="rect">
            <a:avLst/>
          </a:prstGeom>
        </p:spPr>
      </p:pic>
      <p:pic>
        <p:nvPicPr>
          <p:cNvPr id="10" name="Picture 9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868680"/>
            <a:ext cx="968231" cy="2971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1417320"/>
            <a:ext cx="4114800" cy="502920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146304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C"/>
                </a:solidFill>
                <a:latin typeface="Calibri"/>
              </a:rPr>
              <a:t>Theme: [ Experience / Automate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7315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AI-Leave Assistant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C9D6EC"/>
                </a:solidFill>
                <a:latin typeface="Calibri"/>
              </a:rPr>
              <a:t>One-line summary: apply for leave in plain English — an AI agent extracts, validates, confirms and routes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069080"/>
            <a:ext cx="5120640" cy="1325880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429768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26522"/>
                </a:solidFill>
                <a:latin typeface="Calibri"/>
              </a:rPr>
              <a:t>RISING STAR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Prakash Bagsariya  ·  Krupal Tasare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526280"/>
            <a:ext cx="2468880" cy="42062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19th – 20th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340593"/>
            <a:ext cx="6400800" cy="6126480"/>
          </a:xfrm>
          <a:prstGeom prst="roundRect">
            <a:avLst>
              <a:gd name="adj" fmla="val 25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68680" y="77724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PROBLEM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234440"/>
            <a:ext cx="589788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 dirty="0">
                <a:solidFill>
                  <a:srgbClr val="1B2A4A"/>
                </a:solidFill>
                <a:latin typeface="Georgia"/>
              </a:rPr>
              <a:t>What problem are you solving?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313432"/>
            <a:ext cx="4617720" cy="7589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Problem Statement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Applying for leave is slow and error-prone: HRMS forms, cryptic leave codes, hidden balances/policies, and manual routing.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10128"/>
            <a:ext cx="24505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1993392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Use Case at 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Every employee applying for leave and every manager approving it — across all teams.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3310128"/>
            <a:ext cx="2450592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21608" y="3474720"/>
            <a:ext cx="1993392" cy="941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Who Is Affected?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Employees, managers, and HR / Operations.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663440"/>
            <a:ext cx="50749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4828031"/>
            <a:ext cx="4617720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2A4A"/>
                </a:solidFill>
                <a:latin typeface="Calibri"/>
              </a:rPr>
              <a:t>Why Solve It Now?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8A97B0"/>
                </a:solidFill>
                <a:latin typeface="Calibri"/>
              </a:rPr>
              <a:t>Leave is high-volume and repetitive — small frictions and errors scale across the whole org.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0" y="1234440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18872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26522"/>
                </a:solidFill>
                <a:latin typeface="Calibri"/>
              </a:rPr>
              <a:t>Current Pain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4587A"/>
                </a:solidFill>
                <a:latin typeface="Calibri"/>
              </a:rPr>
              <a:t>Employees fight forms &amp; codes; managers get scattered requests in email/chat that are easy to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2057400"/>
            <a:ext cx="4434840" cy="10972"/>
          </a:xfrm>
          <a:prstGeom prst="rect">
            <a:avLst/>
          </a:prstGeom>
          <a:solidFill>
            <a:srgbClr val="D9E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949440" y="2313432"/>
            <a:ext cx="384048" cy="384048"/>
          </a:xfrm>
          <a:prstGeom prst="ellipse">
            <a:avLst/>
          </a:prstGeom>
          <a:solidFill>
            <a:srgbClr val="1C8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267712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5C9A"/>
                </a:solidFill>
                <a:latin typeface="Calibri"/>
              </a:rPr>
              <a:t>Scale of Impact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4587A"/>
                </a:solidFill>
                <a:latin typeface="Calibri"/>
              </a:rPr>
              <a:t>Thousands of leave requests a year, org-wide — every one is manual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3136391"/>
            <a:ext cx="4434840" cy="10972"/>
          </a:xfrm>
          <a:prstGeom prst="rect">
            <a:avLst/>
          </a:prstGeom>
          <a:solidFill>
            <a:srgbClr val="D9E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49440" y="3392424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346704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26522"/>
                </a:solidFill>
                <a:latin typeface="Calibri"/>
              </a:rPr>
              <a:t>Business Relevance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4587A"/>
                </a:solidFill>
                <a:latin typeface="Calibri"/>
              </a:rPr>
              <a:t>Theme: Experience + Automate. Less HR overhead, fewer errors, happier employees.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526280"/>
            <a:ext cx="4526280" cy="1051560"/>
          </a:xfrm>
          <a:prstGeom prst="roundRect">
            <a:avLst>
              <a:gd name="adj" fmla="val 6000"/>
            </a:avLst>
          </a:prstGeom>
          <a:solidFill>
            <a:srgbClr val="FDEEE2"/>
          </a:solidFill>
          <a:ln w="1524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78040" y="4681728"/>
            <a:ext cx="40233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1B2A4A"/>
                </a:solidFill>
                <a:latin typeface="Calibri"/>
              </a:rPr>
              <a:t>In one sentence: the problem is manual, error-prone leave management, affecting every employee &amp; manager, costing time and accuracy.</a:t>
            </a:r>
          </a:p>
        </p:txBody>
      </p:sp>
      <p:pic>
        <p:nvPicPr>
          <p:cNvPr id="24" name="Picture 23" descr="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436227"/>
            <a:ext cx="11457432" cy="596457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What's the Hack?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39783"/>
            <a:ext cx="49377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13433"/>
            <a:ext cx="4204562" cy="78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solidFill>
                  <a:srgbClr val="1B2A4A"/>
                </a:solidFill>
                <a:latin typeface="Calibri"/>
              </a:rPr>
              <a:t>Solution in a Nutshell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 dirty="0">
                <a:solidFill>
                  <a:srgbClr val="8A97B0"/>
                </a:solidFill>
                <a:latin typeface="Calibri"/>
              </a:rPr>
              <a:t>An AI agent: tell it your leave in plain English. It extracts a structured request, validates every rule, shows a confirmation card, and routes it to the right manager.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184293"/>
            <a:ext cx="493776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474720"/>
            <a:ext cx="4480560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solidFill>
                  <a:srgbClr val="1B2A4A"/>
                </a:solidFill>
                <a:latin typeface="Calibri"/>
              </a:rPr>
              <a:t>How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 dirty="0">
                <a:solidFill>
                  <a:srgbClr val="8A97B0"/>
                </a:solidFill>
                <a:latin typeface="Calibri"/>
              </a:rPr>
              <a:t>Input: a chat message → Processing: Claude drafts + deterministic rules validate (balance, doc policy, overlap) → Output: confirmation card, submission, </a:t>
            </a:r>
            <a:r>
              <a:rPr sz="1150" b="0" i="1" dirty="0" err="1">
                <a:solidFill>
                  <a:srgbClr val="8A97B0"/>
                </a:solidFill>
                <a:latin typeface="Calibri"/>
              </a:rPr>
              <a:t>dept</a:t>
            </a:r>
            <a:r>
              <a:rPr sz="1150" b="0" i="1" dirty="0">
                <a:solidFill>
                  <a:srgbClr val="8A97B0"/>
                </a:solidFill>
                <a:latin typeface="Calibri"/>
              </a:rPr>
              <a:t>-routed approval + email.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4042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8A97B0"/>
                </a:solidFill>
                <a:latin typeface="Calibri"/>
              </a:rPr>
              <a:t>TECH STACK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661762"/>
            <a:ext cx="1270513" cy="301752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lang="en-US" sz="950" b="1" dirty="0" smtClean="0">
                <a:solidFill>
                  <a:srgbClr val="FFFFFF"/>
                </a:solidFill>
                <a:latin typeface="Calibri"/>
              </a:rPr>
              <a:t>AI</a:t>
            </a:r>
            <a:r>
              <a:rPr sz="95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950" b="1" i="0" dirty="0">
                <a:solidFill>
                  <a:srgbClr val="FFFFFF"/>
                </a:solidFill>
                <a:latin typeface="Calibri"/>
              </a:rPr>
              <a:t>/ </a:t>
            </a:r>
            <a:r>
              <a:rPr sz="950" b="1" i="0" dirty="0" err="1">
                <a:solidFill>
                  <a:srgbClr val="FFFFFF"/>
                </a:solidFill>
                <a:latin typeface="Calibri"/>
              </a:rPr>
              <a:t>GenAI</a:t>
            </a:r>
            <a:endParaRPr sz="9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248922" y="4670906"/>
            <a:ext cx="1299622" cy="292608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 dirty="0">
                <a:solidFill>
                  <a:srgbClr val="FFFFFF"/>
                </a:solidFill>
                <a:latin typeface="Calibri"/>
              </a:rPr>
              <a:t>Python · </a:t>
            </a:r>
            <a:r>
              <a:rPr sz="950" b="1" i="0" dirty="0" err="1">
                <a:solidFill>
                  <a:srgbClr val="FFFFFF"/>
                </a:solidFill>
                <a:latin typeface="Calibri"/>
              </a:rPr>
              <a:t>FastAPI</a:t>
            </a:r>
            <a:endParaRPr sz="9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653798" y="4670906"/>
            <a:ext cx="912571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 dirty="0">
                <a:solidFill>
                  <a:srgbClr val="FFFFFF"/>
                </a:solidFill>
                <a:latin typeface="Calibri"/>
              </a:rPr>
              <a:t>SQLite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80589" y="4679085"/>
            <a:ext cx="1125852" cy="327884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Tailwind / 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6756" y="4846320"/>
            <a:ext cx="715060" cy="310896"/>
          </a:xfrm>
          <a:prstGeom prst="roundRect">
            <a:avLst>
              <a:gd name="adj" fmla="val 50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SMTP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5167786"/>
            <a:ext cx="493776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5192953"/>
            <a:ext cx="4480560" cy="36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solidFill>
                  <a:srgbClr val="1B2A4A"/>
                </a:solidFill>
                <a:latin typeface="Calibri"/>
              </a:rPr>
              <a:t>Software Craftsmanship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 dirty="0">
                <a:solidFill>
                  <a:srgbClr val="8A97B0"/>
                </a:solidFill>
                <a:latin typeface="Calibri"/>
              </a:rPr>
              <a:t>Deterministic guardrails, confirmation gate, role-based </a:t>
            </a:r>
            <a:r>
              <a:rPr sz="1150" b="0" i="1" dirty="0" err="1">
                <a:solidFill>
                  <a:srgbClr val="8A97B0"/>
                </a:solidFill>
                <a:latin typeface="Calibri"/>
              </a:rPr>
              <a:t>auth</a:t>
            </a:r>
            <a:r>
              <a:rPr sz="1150" b="0" i="1" dirty="0">
                <a:solidFill>
                  <a:srgbClr val="8A97B0"/>
                </a:solidFill>
                <a:latin typeface="Calibri"/>
              </a:rPr>
              <a:t>, </a:t>
            </a:r>
            <a:r>
              <a:rPr sz="1150" b="0" i="1" dirty="0" err="1">
                <a:solidFill>
                  <a:srgbClr val="8A97B0"/>
                </a:solidFill>
                <a:latin typeface="Calibri"/>
              </a:rPr>
              <a:t>dept</a:t>
            </a:r>
            <a:r>
              <a:rPr sz="1150" b="0" i="1" dirty="0">
                <a:solidFill>
                  <a:srgbClr val="8A97B0"/>
                </a:solidFill>
                <a:latin typeface="Calibri"/>
              </a:rPr>
              <a:t> routing, auto-approval SLA, audit log.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874519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Architecture / Solution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2860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2432304"/>
            <a:ext cx="12344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Input / Trigger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Employee 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2542032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652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2286000"/>
            <a:ext cx="1508760" cy="914400"/>
          </a:xfrm>
          <a:prstGeom prst="roundRect">
            <a:avLst>
              <a:gd name="adj" fmla="val 8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58200" y="2557419"/>
            <a:ext cx="1234439" cy="3898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 dirty="0">
                <a:solidFill>
                  <a:srgbClr val="FFFFFF"/>
                </a:solidFill>
                <a:latin typeface="Calibri"/>
              </a:rPr>
              <a:t>Processing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lang="en-US" sz="950" b="0" i="0" dirty="0" smtClean="0">
                <a:solidFill>
                  <a:srgbClr val="C9D6EC"/>
                </a:solidFill>
                <a:latin typeface="Calibri"/>
              </a:rPr>
              <a:t>AI</a:t>
            </a:r>
            <a:r>
              <a:rPr sz="950" b="0" i="0" dirty="0" smtClean="0">
                <a:solidFill>
                  <a:srgbClr val="C9D6EC"/>
                </a:solidFill>
                <a:latin typeface="Calibri"/>
              </a:rPr>
              <a:t> </a:t>
            </a:r>
            <a:r>
              <a:rPr sz="950" b="0" i="0" dirty="0">
                <a:solidFill>
                  <a:srgbClr val="C9D6EC"/>
                </a:solidFill>
                <a:latin typeface="Calibri"/>
              </a:rPr>
              <a:t>+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7232" y="2542032"/>
            <a:ext cx="320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26522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28600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87000" y="2432304"/>
            <a:ext cx="1005839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C9D6EC"/>
                </a:solidFill>
                <a:latin typeface="Calibri"/>
              </a:rPr>
              <a:t>Card → approve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3383280"/>
            <a:ext cx="4937760" cy="26700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812280" y="3566160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0" y="3566160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Chat 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3877056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12280" y="3968496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49440" y="3968496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FastAPI orchestrator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23960" y="4279392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12280" y="4370832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49440" y="4450785"/>
            <a:ext cx="402336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100" b="1" i="0" dirty="0" smtClean="0">
                <a:solidFill>
                  <a:srgbClr val="1B2A4A"/>
                </a:solidFill>
                <a:latin typeface="Calibri"/>
              </a:rPr>
              <a:t>AI</a:t>
            </a:r>
            <a:r>
              <a:rPr sz="1100" b="1" i="0" dirty="0" smtClean="0">
                <a:solidFill>
                  <a:srgbClr val="1B2A4A"/>
                </a:solidFill>
                <a:latin typeface="Calibri"/>
              </a:rPr>
              <a:t>  </a:t>
            </a:r>
            <a:r>
              <a:rPr sz="1100" b="1" i="0" dirty="0">
                <a:solidFill>
                  <a:srgbClr val="1B2A4A"/>
                </a:solidFill>
                <a:latin typeface="Calibri"/>
              </a:rPr>
              <a:t>+  Rules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4681728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12280" y="4773168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49440" y="4773168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SQLite store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5084064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12280" y="5175504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FDE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949440" y="5175504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Confirmation gate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5486400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26522"/>
                </a:solidFill>
                <a:latin typeface="Calibri"/>
              </a:rPr>
              <a:t>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12280" y="5577840"/>
            <a:ext cx="4297680" cy="329184"/>
          </a:xfrm>
          <a:prstGeom prst="roundRect">
            <a:avLst>
              <a:gd name="adj" fmla="val 12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949440" y="5577840"/>
            <a:ext cx="40233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Manager approval (by dept) + email</a:t>
            </a:r>
          </a:p>
        </p:txBody>
      </p:sp>
      <p:pic>
        <p:nvPicPr>
          <p:cNvPr id="44" name="Picture 43" descr="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315426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Show us what you built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103120"/>
            <a:ext cx="6400800" cy="3657600"/>
          </a:xfrm>
          <a:prstGeom prst="roundRect">
            <a:avLst>
              <a:gd name="adj" fmla="val 4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39" y="2592112"/>
            <a:ext cx="6126480" cy="224070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68680" y="5321808"/>
            <a:ext cx="6400800" cy="438912"/>
          </a:xfrm>
          <a:prstGeom prst="rect">
            <a:avLst/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456625"/>
            <a:ext cx="60350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 dirty="0">
                <a:solidFill>
                  <a:srgbClr val="FFFFFF"/>
                </a:solidFill>
                <a:latin typeface="Calibri"/>
              </a:rPr>
              <a:t>Status: [ Working prototype / MVP ]   Repo</a:t>
            </a:r>
            <a:r>
              <a:rPr sz="1100" b="1" i="0" dirty="0" smtClean="0">
                <a:solidFill>
                  <a:srgbClr val="FFFFFF"/>
                </a:solidFill>
                <a:latin typeface="Calibri"/>
              </a:rPr>
              <a:t>:</a:t>
            </a:r>
            <a:r>
              <a:rPr lang="en-US" sz="1100" b="1" i="0" dirty="0" smtClean="0">
                <a:solidFill>
                  <a:srgbClr val="FFFFFF"/>
                </a:solidFill>
                <a:latin typeface="Calibri"/>
              </a:rPr>
              <a:t> 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543800" y="2103120"/>
            <a:ext cx="3886200" cy="1170432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99831" y="2331720"/>
            <a:ext cx="457200" cy="457200"/>
          </a:xfrm>
          <a:prstGeom prst="ellipse">
            <a:avLst/>
          </a:prstGeom>
          <a:solidFill>
            <a:srgbClr val="1C8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304288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Georgia"/>
              </a:rPr>
              <a:t>Feature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4587A"/>
                </a:solidFill>
                <a:latin typeface="Calibri"/>
              </a:rPr>
              <a:t>Apply in plain English — dates, type &amp; reason parsed automatically.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401568"/>
            <a:ext cx="3886200" cy="1170432"/>
          </a:xfrm>
          <a:prstGeom prst="roundRect">
            <a:avLst>
              <a:gd name="adj" fmla="val 6000"/>
            </a:avLst>
          </a:prstGeom>
          <a:solidFill>
            <a:srgbClr val="FDEEE2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799831" y="3630168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602736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Georgia"/>
              </a:rPr>
              <a:t>Feature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950207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4587A"/>
                </a:solidFill>
                <a:latin typeface="Calibri"/>
              </a:rPr>
              <a:t>Department approvals — routed to your team's manager; approve/reject with comments.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700016"/>
            <a:ext cx="3886200" cy="1170432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799831" y="4928616"/>
            <a:ext cx="457200" cy="457200"/>
          </a:xfrm>
          <a:prstGeom prst="ellipse">
            <a:avLst/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901183"/>
            <a:ext cx="2788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Georgia"/>
              </a:rPr>
              <a:t>Feature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248655"/>
            <a:ext cx="2834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44587A"/>
                </a:solidFill>
                <a:latin typeface="Calibri"/>
              </a:rPr>
              <a:t>Guardrails + SLA — balance / overlap checks; sick leave auto-approves after 3 days.</a:t>
            </a:r>
          </a:p>
        </p:txBody>
      </p:sp>
      <p:pic>
        <p:nvPicPr>
          <p:cNvPr id="21" name="Picture 20" descr="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68680" y="77724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IMPACT &amp; 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B2A4A"/>
                </a:solidFill>
                <a:latin typeface="Georgia"/>
              </a:rPr>
              <a:t>Why does it matter?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103120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10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~90%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0632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Less time per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4015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FFFFFF"/>
                </a:solidFill>
                <a:latin typeface="Calibri"/>
              </a:rPr>
              <a:t>Seconds vs minutes of forms &amp; codes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103120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00600" y="228600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0632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Invalid requests submitted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34015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FFFFFF"/>
                </a:solidFill>
                <a:latin typeface="Calibri"/>
              </a:rPr>
              <a:t>Balance · policy · overlap checks block them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2103120"/>
            <a:ext cx="3566160" cy="1783080"/>
          </a:xfrm>
          <a:prstGeom prst="roundRect">
            <a:avLst>
              <a:gd name="adj" fmla="val 5000"/>
            </a:avLst>
          </a:prstGeom>
          <a:solidFill>
            <a:srgbClr val="2E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39" y="228600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Georgia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39" y="306324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Routed to the right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3401568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FFFFFF"/>
                </a:solidFill>
                <a:latin typeface="Calibri"/>
              </a:rPr>
              <a:t>By department, automatically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114800"/>
            <a:ext cx="5257800" cy="1572768"/>
          </a:xfrm>
          <a:prstGeom prst="roundRect">
            <a:avLst>
              <a:gd name="adj" fmla="val 5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429768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Quantifiable 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5924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•  Apply in plain English — no leave codes or forms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•  Guardrails stop balance / overlap / policy errors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•  Auto-routing + 3-day sick-leave SLA — nothing stuck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•  Audit trail + email on every decision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114800"/>
            <a:ext cx="5166360" cy="1572768"/>
          </a:xfrm>
          <a:prstGeom prst="roundRect">
            <a:avLst>
              <a:gd name="adj" fmla="val 5000"/>
            </a:avLst>
          </a:prstGeom>
          <a:solidFill>
            <a:srgbClr val="EAF0FB"/>
          </a:solidFill>
          <a:ln w="12700">
            <a:solidFill>
              <a:srgbClr val="D9E2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429768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2A4A"/>
                </a:solidFill>
                <a:latin typeface="Calibri"/>
              </a:rPr>
              <a:t>Alignment &amp; Risks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610757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Hackathon theme: Experience / Automate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ING goal: simpler, faster employee experience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Key assumption: extraction quality (mitigated by deterministic checks + offline fallback)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 dirty="0">
                <a:solidFill>
                  <a:srgbClr val="44587A"/>
                </a:solidFill>
                <a:latin typeface="Calibri"/>
              </a:rPr>
              <a:t>Risks: HRMS / SSO integration, email deliverability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76072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8A97B0"/>
                </a:solidFill>
                <a:latin typeface="Calibri"/>
              </a:rPr>
              <a:t>Estimates based on the working prototype.</a:t>
            </a:r>
          </a:p>
        </p:txBody>
      </p:sp>
      <p:pic>
        <p:nvPicPr>
          <p:cNvPr id="24" name="Picture 23" descr="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E5C9A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1B2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65760" y="365760"/>
            <a:ext cx="11457432" cy="6126480"/>
          </a:xfrm>
          <a:prstGeom prst="roundRect">
            <a:avLst>
              <a:gd name="adj" fmla="val 2500"/>
            </a:avLst>
          </a:prstGeom>
          <a:solidFill>
            <a:srgbClr val="152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869680" y="3657600"/>
            <a:ext cx="4023360" cy="4023360"/>
          </a:xfrm>
          <a:prstGeom prst="ellipse">
            <a:avLst/>
          </a:prstGeom>
          <a:solidFill>
            <a:srgbClr val="15223C"/>
          </a:solidFill>
          <a:ln w="2540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555480" y="4343400"/>
            <a:ext cx="2651760" cy="2651760"/>
          </a:xfrm>
          <a:prstGeom prst="ellipse">
            <a:avLst/>
          </a:prstGeom>
          <a:noFill/>
          <a:ln w="1905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77724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TEAM &amp; ART OF POSSIBLE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34440"/>
            <a:ext cx="1036015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Georgia"/>
              </a:rPr>
              <a:t>The team behind the hack + what comes next</a:t>
            </a:r>
          </a:p>
        </p:txBody>
      </p:sp>
      <p:sp>
        <p:nvSpPr>
          <p:cNvPr id="7" name="Oval 6"/>
          <p:cNvSpPr/>
          <p:nvPr/>
        </p:nvSpPr>
        <p:spPr>
          <a:xfrm>
            <a:off x="1554480" y="2148840"/>
            <a:ext cx="914400" cy="91440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PB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Prakash Bagsariya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C9D6EC"/>
                </a:solidFill>
                <a:latin typeface="Calibri"/>
              </a:rPr>
              <a:t>Lead Developer</a:t>
            </a:r>
          </a:p>
        </p:txBody>
      </p:sp>
      <p:sp>
        <p:nvSpPr>
          <p:cNvPr id="10" name="Oval 9"/>
          <p:cNvSpPr/>
          <p:nvPr/>
        </p:nvSpPr>
        <p:spPr>
          <a:xfrm>
            <a:off x="4572000" y="2148840"/>
            <a:ext cx="914400" cy="914400"/>
          </a:xfrm>
          <a:prstGeom prst="ellipse">
            <a:avLst/>
          </a:prstGeom>
          <a:solidFill>
            <a:srgbClr val="1C8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3246120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Krupal Tasare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56616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C9D6EC"/>
                </a:solidFill>
                <a:latin typeface="Calibri"/>
              </a:rPr>
              <a:t>Developer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069080"/>
            <a:ext cx="7040880" cy="1600200"/>
          </a:xfrm>
          <a:prstGeom prst="roundRect">
            <a:avLst>
              <a:gd name="adj" fmla="val 5000"/>
            </a:avLst>
          </a:prstGeom>
          <a:noFill/>
          <a:ln w="15240">
            <a:solidFill>
              <a:srgbClr val="F265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97280" y="429768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315968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6522"/>
                </a:solidFill>
                <a:latin typeface="Calibri"/>
              </a:rPr>
              <a:t>Art of Possible — Broader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64608"/>
            <a:ext cx="64922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Phase 1 (Done): Working app — NL apply, validation, dept approvals, notifications, auth.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Phase 2 (Next): Microsoft Teams bot; richer policies &amp; reminders.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Phase 3 (Future): Live HRMS + SSO, multi-language, analytics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15000"/>
            <a:ext cx="7040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F26522"/>
                </a:solidFill>
                <a:latin typeface="Georgia"/>
              </a:rPr>
              <a:t>SimplifyING  ·  AutomatING  ·  InnovatING</a:t>
            </a:r>
          </a:p>
        </p:txBody>
      </p:sp>
      <p:pic>
        <p:nvPicPr>
          <p:cNvPr id="18" name="Picture 17" descr="cognizant 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108192"/>
            <a:ext cx="658397" cy="20208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680" y="60807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C9D6EC"/>
                </a:solidFill>
                <a:latin typeface="Calibri"/>
              </a:rPr>
              <a:t>Global Cognizant ING Hackathon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8792" y="6080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697</Words>
  <Application>Microsoft Office PowerPoint</Application>
  <PresentationFormat>Widescreen</PresentationFormat>
  <Paragraphs>122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DELL</cp:lastModifiedBy>
  <cp:revision>9</cp:revision>
  <dcterms:created xsi:type="dcterms:W3CDTF">2013-01-27T09:14:16Z</dcterms:created>
  <dcterms:modified xsi:type="dcterms:W3CDTF">2026-06-18T05:49:01Z</dcterms:modified>
  <cp:category/>
</cp:coreProperties>
</file>