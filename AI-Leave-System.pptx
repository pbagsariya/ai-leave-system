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65760"/>
            <a:ext cx="11457432" cy="6126480"/>
          </a:xfrm>
          <a:prstGeom prst="roundRect">
            <a:avLst>
              <a:gd name="adj" fmla="val 2500"/>
            </a:avLst>
          </a:prstGeom>
          <a:solidFill>
            <a:srgbClr val="152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15400" y="-1143000"/>
            <a:ext cx="3566160" cy="3566160"/>
          </a:xfrm>
          <a:prstGeom prst="ellipse">
            <a:avLst/>
          </a:prstGeom>
          <a:solidFill>
            <a:srgbClr val="15223C"/>
          </a:solidFill>
          <a:ln w="25400">
            <a:solidFill>
              <a:srgbClr val="F265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55480" y="-502920"/>
            <a:ext cx="2286000" cy="2286000"/>
          </a:xfrm>
          <a:prstGeom prst="ellipse">
            <a:avLst/>
          </a:prstGeom>
          <a:noFill/>
          <a:ln w="19050">
            <a:solidFill>
              <a:srgbClr val="F265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411480"/>
            <a:ext cx="2011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26522"/>
                </a:solidFill>
                <a:latin typeface="Calibri"/>
              </a:rPr>
              <a:t>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75720" y="1554480"/>
            <a:ext cx="411480" cy="3017520"/>
          </a:xfrm>
          <a:prstGeom prst="roundRect">
            <a:avLst>
              <a:gd name="adj" fmla="val 30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 rot="16200000">
            <a:off x="10378440" y="2880360"/>
            <a:ext cx="2651760" cy="3657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CodING is my cardio</a:t>
            </a:r>
          </a:p>
        </p:txBody>
      </p:sp>
      <p:sp>
        <p:nvSpPr>
          <p:cNvPr id="8" name="Oval 7"/>
          <p:cNvSpPr/>
          <p:nvPr/>
        </p:nvSpPr>
        <p:spPr>
          <a:xfrm>
            <a:off x="-777240" y="4983480"/>
            <a:ext cx="2286000" cy="2286000"/>
          </a:xfrm>
          <a:prstGeom prst="ellipse">
            <a:avLst/>
          </a:prstGeom>
          <a:solidFill>
            <a:srgbClr val="15223C"/>
          </a:solidFill>
          <a:ln w="19050">
            <a:solidFill>
              <a:srgbClr val="F265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gnizant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5989320"/>
            <a:ext cx="697126" cy="213969"/>
          </a:xfrm>
          <a:prstGeom prst="rect">
            <a:avLst/>
          </a:prstGeom>
        </p:spPr>
      </p:pic>
      <p:pic>
        <p:nvPicPr>
          <p:cNvPr id="10" name="Picture 9" descr="cognizant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868680"/>
            <a:ext cx="968231" cy="2971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68680" y="1417320"/>
            <a:ext cx="4114800" cy="50292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F265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463040"/>
            <a:ext cx="3840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C9D6EC"/>
                </a:solidFill>
                <a:latin typeface="Calibri"/>
              </a:rPr>
              <a:t>Theme: [ Experience / Automate 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286000"/>
            <a:ext cx="7315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Georgia"/>
              </a:rPr>
              <a:t>AI-Leave Assistant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337560"/>
            <a:ext cx="6949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C9D6EC"/>
                </a:solidFill>
                <a:latin typeface="Calibri"/>
              </a:rPr>
              <a:t>One-line summary: apply for leave in plain English — an AI agent extracts, validates, confirms and routes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4069080"/>
            <a:ext cx="5120640" cy="1325880"/>
          </a:xfrm>
          <a:prstGeom prst="roundRect">
            <a:avLst>
              <a:gd name="adj" fmla="val 6000"/>
            </a:avLst>
          </a:prstGeom>
          <a:noFill/>
          <a:ln w="15240">
            <a:solidFill>
              <a:srgbClr val="F265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2976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F26522"/>
                </a:solidFill>
                <a:latin typeface="Calibri"/>
              </a:rPr>
              <a:t>RISING STAR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Prakash Bagsariya  ·  Krupal Tasare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526280"/>
            <a:ext cx="2468880" cy="420624"/>
          </a:xfrm>
          <a:prstGeom prst="roundRect">
            <a:avLst>
              <a:gd name="adj" fmla="val 50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19th – 20th June 2026</a:t>
            </a:r>
          </a:p>
        </p:txBody>
      </p:sp>
      <p:pic>
        <p:nvPicPr>
          <p:cNvPr id="18" name="Picture 17" descr="cognizant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108192"/>
            <a:ext cx="658397" cy="20208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297680" y="6080760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C9D6EC"/>
                </a:solidFill>
                <a:latin typeface="Calibri"/>
              </a:rPr>
              <a:t>Global Cognizant ING Hackathon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08792" y="6080760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65760"/>
            <a:ext cx="11457432" cy="61264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365760"/>
            <a:ext cx="6400800" cy="6126480"/>
          </a:xfrm>
          <a:prstGeom prst="roundRect">
            <a:avLst>
              <a:gd name="adj" fmla="val 25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777240"/>
            <a:ext cx="2468880" cy="329184"/>
          </a:xfrm>
          <a:prstGeom prst="roundRect">
            <a:avLst>
              <a:gd name="adj" fmla="val 50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PROBLEM &amp;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234440"/>
            <a:ext cx="103601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B2A4A"/>
                </a:solidFill>
                <a:latin typeface="Georgia"/>
              </a:rPr>
              <a:t>What problem are you solving?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148840"/>
            <a:ext cx="507492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13432"/>
            <a:ext cx="4617720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2A4A"/>
                </a:solidFill>
                <a:latin typeface="Calibri"/>
              </a:rPr>
              <a:t>Problem Statement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8A97B0"/>
                </a:solidFill>
                <a:latin typeface="Calibri"/>
              </a:rPr>
              <a:t>Applying for leave is slow and error-prone: HRMS forms, cryptic leave codes, hidden balances/policies, and manual routing.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310128"/>
            <a:ext cx="2450592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474720"/>
            <a:ext cx="1993392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2A4A"/>
                </a:solidFill>
                <a:latin typeface="Calibri"/>
              </a:rPr>
              <a:t>Use Case at ING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8A97B0"/>
                </a:solidFill>
                <a:latin typeface="Calibri"/>
              </a:rPr>
              <a:t>Every employee applying for leave and every manager approving it — across all teams.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3008" y="3310128"/>
            <a:ext cx="2450592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21608" y="3474720"/>
            <a:ext cx="1993392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2A4A"/>
                </a:solidFill>
                <a:latin typeface="Calibri"/>
              </a:rPr>
              <a:t>Who Is Affected?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8A97B0"/>
                </a:solidFill>
                <a:latin typeface="Calibri"/>
              </a:rPr>
              <a:t>Employees, managers, and HR / Operations.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663440"/>
            <a:ext cx="50749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828031"/>
            <a:ext cx="46177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2A4A"/>
                </a:solidFill>
                <a:latin typeface="Calibri"/>
              </a:rPr>
              <a:t>Why Solve It Now?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8A97B0"/>
                </a:solidFill>
                <a:latin typeface="Calibri"/>
              </a:rPr>
              <a:t>Leave is high-volume and repetitive — small frictions and errors scale across the whole org.</a:t>
            </a:r>
          </a:p>
        </p:txBody>
      </p:sp>
      <p:sp>
        <p:nvSpPr>
          <p:cNvPr id="14" name="Oval 13"/>
          <p:cNvSpPr/>
          <p:nvPr/>
        </p:nvSpPr>
        <p:spPr>
          <a:xfrm>
            <a:off x="6949440" y="1234440"/>
            <a:ext cx="384048" cy="384048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188720"/>
            <a:ext cx="3931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26522"/>
                </a:solidFill>
                <a:latin typeface="Calibri"/>
              </a:rPr>
              <a:t>Current Pain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44587A"/>
                </a:solidFill>
                <a:latin typeface="Calibri"/>
              </a:rPr>
              <a:t>Employees fight forms &amp; codes; managers get scattered requests in email/chat that are easy to miss.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2057400"/>
            <a:ext cx="4434840" cy="10972"/>
          </a:xfrm>
          <a:prstGeom prst="rect">
            <a:avLst/>
          </a:prstGeom>
          <a:solidFill>
            <a:srgbClr val="D9E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49440" y="2313432"/>
            <a:ext cx="384048" cy="384048"/>
          </a:xfrm>
          <a:prstGeom prst="ellipse">
            <a:avLst/>
          </a:prstGeom>
          <a:solidFill>
            <a:srgbClr val="1C8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2267712"/>
            <a:ext cx="3931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2E5C9A"/>
                </a:solidFill>
                <a:latin typeface="Calibri"/>
              </a:rPr>
              <a:t>Scale of Impact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44587A"/>
                </a:solidFill>
                <a:latin typeface="Calibri"/>
              </a:rPr>
              <a:t>Thousands of leave requests a year, org-wide — every one is manual today.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3136391"/>
            <a:ext cx="4434840" cy="10972"/>
          </a:xfrm>
          <a:prstGeom prst="rect">
            <a:avLst/>
          </a:prstGeom>
          <a:solidFill>
            <a:srgbClr val="D9E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949440" y="3392424"/>
            <a:ext cx="384048" cy="384048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346704"/>
            <a:ext cx="3931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26522"/>
                </a:solidFill>
                <a:latin typeface="Calibri"/>
              </a:rPr>
              <a:t>Business Relevance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44587A"/>
                </a:solidFill>
                <a:latin typeface="Calibri"/>
              </a:rPr>
              <a:t>Theme: Experience + Automate. Less HR overhead, fewer errors, happier employees.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526280"/>
            <a:ext cx="4526280" cy="1051560"/>
          </a:xfrm>
          <a:prstGeom prst="roundRect">
            <a:avLst>
              <a:gd name="adj" fmla="val 6000"/>
            </a:avLst>
          </a:prstGeom>
          <a:solidFill>
            <a:srgbClr val="FDEEE2"/>
          </a:solidFill>
          <a:ln w="15240">
            <a:solidFill>
              <a:srgbClr val="F265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78040" y="4681728"/>
            <a:ext cx="4023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1B2A4A"/>
                </a:solidFill>
                <a:latin typeface="Calibri"/>
              </a:rPr>
              <a:t>In one sentence: the problem is manual, error-prone leave management, affecting every employee &amp; manager, costing time and accuracy.</a:t>
            </a:r>
          </a:p>
        </p:txBody>
      </p:sp>
      <p:pic>
        <p:nvPicPr>
          <p:cNvPr id="24" name="Picture 23" descr="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108192"/>
            <a:ext cx="658397" cy="20208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297680" y="6080760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E5C9A"/>
                </a:solidFill>
                <a:latin typeface="Calibri"/>
              </a:rPr>
              <a:t>Global Cognizant ING Hackathon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08792" y="6080760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B2A4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65760"/>
            <a:ext cx="11457432" cy="61264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68680" y="777240"/>
            <a:ext cx="1920240" cy="329184"/>
          </a:xfrm>
          <a:prstGeom prst="roundRect">
            <a:avLst>
              <a:gd name="adj" fmla="val 50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03601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B2A4A"/>
                </a:solidFill>
                <a:latin typeface="Georgia"/>
              </a:rPr>
              <a:t>What's the Hack?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148840"/>
            <a:ext cx="493776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13432"/>
            <a:ext cx="4480560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2A4A"/>
                </a:solidFill>
                <a:latin typeface="Calibri"/>
              </a:rPr>
              <a:t>Solution in a Nutshell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8A97B0"/>
                </a:solidFill>
                <a:latin typeface="Calibri"/>
              </a:rPr>
              <a:t>An AI agent: tell it your leave in plain English. It extracts a structured request, validates every rule, shows a confirmation card, and routes it to the right manager.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3310128"/>
            <a:ext cx="493776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474720"/>
            <a:ext cx="4480560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2A4A"/>
                </a:solidFill>
                <a:latin typeface="Calibri"/>
              </a:rPr>
              <a:t>How It Works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8A97B0"/>
                </a:solidFill>
                <a:latin typeface="Calibri"/>
              </a:rPr>
              <a:t>Input: a chat message → Processing: Claude drafts + deterministic rules validate (balance, doc policy, overlap) → Output: confirmation card, submission, dept-routed approval + email.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57200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8A97B0"/>
                </a:solidFill>
                <a:latin typeface="Calibri"/>
              </a:rPr>
              <a:t>TECH STACK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846320"/>
            <a:ext cx="1702612" cy="310896"/>
          </a:xfrm>
          <a:prstGeom prst="roundRect">
            <a:avLst>
              <a:gd name="adj" fmla="val 50000"/>
            </a:avLst>
          </a:prstGeom>
          <a:solidFill>
            <a:srgbClr val="10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Claude / GenAI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81020" y="4846320"/>
            <a:ext cx="1900123" cy="310896"/>
          </a:xfrm>
          <a:prstGeom prst="roundRect">
            <a:avLst>
              <a:gd name="adj" fmla="val 50000"/>
            </a:avLst>
          </a:prstGeom>
          <a:solidFill>
            <a:srgbClr val="10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Python · FastAPI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90872" y="4846320"/>
            <a:ext cx="912571" cy="310896"/>
          </a:xfrm>
          <a:prstGeom prst="roundRect">
            <a:avLst>
              <a:gd name="adj" fmla="val 50000"/>
            </a:avLst>
          </a:prstGeom>
          <a:solidFill>
            <a:srgbClr val="10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SQLite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3171" y="4846320"/>
            <a:ext cx="1603857" cy="310896"/>
          </a:xfrm>
          <a:prstGeom prst="roundRect">
            <a:avLst>
              <a:gd name="adj" fmla="val 50000"/>
            </a:avLst>
          </a:prstGeom>
          <a:solidFill>
            <a:srgbClr val="10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Tailwind / JS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26756" y="4846320"/>
            <a:ext cx="715060" cy="310896"/>
          </a:xfrm>
          <a:prstGeom prst="roundRect">
            <a:avLst>
              <a:gd name="adj" fmla="val 50000"/>
            </a:avLst>
          </a:prstGeom>
          <a:solidFill>
            <a:srgbClr val="10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SMTP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5285232"/>
            <a:ext cx="493776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5449824"/>
            <a:ext cx="4480560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2A4A"/>
                </a:solidFill>
                <a:latin typeface="Calibri"/>
              </a:rPr>
              <a:t>Software Craftsmanship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8A97B0"/>
                </a:solidFill>
                <a:latin typeface="Calibri"/>
              </a:rPr>
              <a:t>Deterministic guardrails, confirmation gate, role-based auth, dept routing, auto-approval SLA, audit log.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187451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Architecture / Solution Flow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2286000"/>
            <a:ext cx="1508760" cy="914400"/>
          </a:xfrm>
          <a:prstGeom prst="roundRect">
            <a:avLst>
              <a:gd name="adj" fmla="val 8000"/>
            </a:avLst>
          </a:prstGeom>
          <a:solidFill>
            <a:srgbClr val="10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2432304"/>
            <a:ext cx="12344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Input / Trigger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C9D6EC"/>
                </a:solidFill>
                <a:latin typeface="Calibri"/>
              </a:rPr>
              <a:t>Employee chat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2542032"/>
            <a:ext cx="320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26522"/>
                </a:solidFill>
                <a:latin typeface="Calibr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21040" y="2286000"/>
            <a:ext cx="1508760" cy="914400"/>
          </a:xfrm>
          <a:prstGeom prst="roundRect">
            <a:avLst>
              <a:gd name="adj" fmla="val 8000"/>
            </a:avLst>
          </a:prstGeom>
          <a:solidFill>
            <a:srgbClr val="10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2432304"/>
            <a:ext cx="12344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Processing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C9D6EC"/>
                </a:solidFill>
                <a:latin typeface="Calibri"/>
              </a:rPr>
              <a:t>Claude + Rules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57232" y="2542032"/>
            <a:ext cx="320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26522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286000"/>
            <a:ext cx="1280160" cy="914400"/>
          </a:xfrm>
          <a:prstGeom prst="roundRect">
            <a:avLst>
              <a:gd name="adj" fmla="val 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87000" y="2432304"/>
            <a:ext cx="10058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Output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C9D6EC"/>
                </a:solidFill>
                <a:latin typeface="Calibri"/>
              </a:rPr>
              <a:t>Card → approve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3383280"/>
            <a:ext cx="4937760" cy="26700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812280" y="3566160"/>
            <a:ext cx="4297680" cy="329184"/>
          </a:xfrm>
          <a:prstGeom prst="roundRect">
            <a:avLst>
              <a:gd name="adj" fmla="val 12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3566160"/>
            <a:ext cx="4023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B2A4A"/>
                </a:solidFill>
                <a:latin typeface="Calibri"/>
              </a:rPr>
              <a:t>Chat UI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60" y="3877056"/>
            <a:ext cx="365760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26522"/>
                </a:solidFill>
                <a:latin typeface="Calibri"/>
              </a:rPr>
              <a:t>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12280" y="3968496"/>
            <a:ext cx="4297680" cy="329184"/>
          </a:xfrm>
          <a:prstGeom prst="roundRect">
            <a:avLst>
              <a:gd name="adj" fmla="val 12000"/>
            </a:avLst>
          </a:prstGeom>
          <a:solidFill>
            <a:srgbClr val="10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0" y="3968496"/>
            <a:ext cx="4023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FastAPI orchestrator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23960" y="4279392"/>
            <a:ext cx="365760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26522"/>
                </a:solidFill>
                <a:latin typeface="Calibri"/>
              </a:rPr>
              <a:t>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12280" y="4370832"/>
            <a:ext cx="4297680" cy="329184"/>
          </a:xfrm>
          <a:prstGeom prst="roundRect">
            <a:avLst>
              <a:gd name="adj" fmla="val 12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0" y="4370832"/>
            <a:ext cx="4023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B2A4A"/>
                </a:solidFill>
                <a:latin typeface="Calibri"/>
              </a:rPr>
              <a:t>Claude  +  Rules engine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23960" y="4681728"/>
            <a:ext cx="365760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26522"/>
                </a:solidFill>
                <a:latin typeface="Calibri"/>
              </a:rPr>
              <a:t>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12280" y="4773168"/>
            <a:ext cx="4297680" cy="329184"/>
          </a:xfrm>
          <a:prstGeom prst="roundRect">
            <a:avLst>
              <a:gd name="adj" fmla="val 12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49440" y="4773168"/>
            <a:ext cx="4023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B2A4A"/>
                </a:solidFill>
                <a:latin typeface="Calibri"/>
              </a:rPr>
              <a:t>SQLite store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5084064"/>
            <a:ext cx="365760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26522"/>
                </a:solidFill>
                <a:latin typeface="Calibri"/>
              </a:rPr>
              <a:t>↓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12280" y="5175504"/>
            <a:ext cx="4297680" cy="329184"/>
          </a:xfrm>
          <a:prstGeom prst="roundRect">
            <a:avLst>
              <a:gd name="adj" fmla="val 12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49440" y="5175504"/>
            <a:ext cx="4023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B2A4A"/>
                </a:solidFill>
                <a:latin typeface="Calibri"/>
              </a:rPr>
              <a:t>Confirmation gate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23960" y="5486400"/>
            <a:ext cx="365760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26522"/>
                </a:solidFill>
                <a:latin typeface="Calibri"/>
              </a:rPr>
              <a:t>↓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12280" y="5577840"/>
            <a:ext cx="4297680" cy="329184"/>
          </a:xfrm>
          <a:prstGeom prst="roundRect">
            <a:avLst>
              <a:gd name="adj" fmla="val 12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49440" y="5577840"/>
            <a:ext cx="4023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Manager approval (by dept) + email</a:t>
            </a:r>
          </a:p>
        </p:txBody>
      </p:sp>
      <p:pic>
        <p:nvPicPr>
          <p:cNvPr id="44" name="Picture 43" descr="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108192"/>
            <a:ext cx="658397" cy="20208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297680" y="6080760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E5C9A"/>
                </a:solidFill>
                <a:latin typeface="Calibri"/>
              </a:rPr>
              <a:t>Global Cognizant ING Hackathon 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08792" y="6080760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B2A4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65760"/>
            <a:ext cx="11457432" cy="61264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68680" y="777240"/>
            <a:ext cx="2468880" cy="329184"/>
          </a:xfrm>
          <a:prstGeom prst="roundRect">
            <a:avLst>
              <a:gd name="adj" fmla="val 50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WORKING PROTOTYPE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03601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B2A4A"/>
                </a:solidFill>
                <a:latin typeface="Georgia"/>
              </a:rPr>
              <a:t>Show us what you built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103120"/>
            <a:ext cx="6400800" cy="3657600"/>
          </a:xfrm>
          <a:prstGeom prst="roundRect">
            <a:avLst>
              <a:gd name="adj" fmla="val 4000"/>
            </a:avLst>
          </a:prstGeom>
          <a:solidFill>
            <a:srgbClr val="EAF0FB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39" y="2592112"/>
            <a:ext cx="6126480" cy="224070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68680" y="5321808"/>
            <a:ext cx="6400800" cy="438912"/>
          </a:xfrm>
          <a:prstGeom prst="rect">
            <a:avLst/>
          </a:prstGeom>
          <a:solidFill>
            <a:srgbClr val="10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321808"/>
            <a:ext cx="60350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Status: [ Working prototype / MVP ]   Repo: github.com/pbagsariya/AI-Leave-System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2103120"/>
            <a:ext cx="3886200" cy="1170432"/>
          </a:xfrm>
          <a:prstGeom prst="roundRect">
            <a:avLst>
              <a:gd name="adj" fmla="val 6000"/>
            </a:avLst>
          </a:prstGeom>
          <a:solidFill>
            <a:srgbClr val="EAF0FB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99831" y="2331720"/>
            <a:ext cx="457200" cy="457200"/>
          </a:xfrm>
          <a:prstGeom prst="ellipse">
            <a:avLst/>
          </a:prstGeom>
          <a:solidFill>
            <a:srgbClr val="1C8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230428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Georgia"/>
              </a:rPr>
              <a:t>Feature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5176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44587A"/>
                </a:solidFill>
                <a:latin typeface="Calibri"/>
              </a:rPr>
              <a:t>Apply in plain English — dates, type &amp; reason parsed automatically.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3401568"/>
            <a:ext cx="3886200" cy="1170432"/>
          </a:xfrm>
          <a:prstGeom prst="roundRect">
            <a:avLst>
              <a:gd name="adj" fmla="val 6000"/>
            </a:avLst>
          </a:prstGeom>
          <a:solidFill>
            <a:srgbClr val="FDEEE2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99831" y="3630168"/>
            <a:ext cx="457200" cy="457200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3602736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Georgia"/>
              </a:rPr>
              <a:t>Feature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3950207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44587A"/>
                </a:solidFill>
                <a:latin typeface="Calibri"/>
              </a:rPr>
              <a:t>Department approvals — routed to your team's manager; approve/reject with comments.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43800" y="4700016"/>
            <a:ext cx="3886200" cy="1170432"/>
          </a:xfrm>
          <a:prstGeom prst="roundRect">
            <a:avLst>
              <a:gd name="adj" fmla="val 6000"/>
            </a:avLst>
          </a:prstGeom>
          <a:solidFill>
            <a:srgbClr val="EAF0FB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99831" y="4928616"/>
            <a:ext cx="457200" cy="457200"/>
          </a:xfrm>
          <a:prstGeom prst="ellipse">
            <a:avLst/>
          </a:prstGeom>
          <a:solidFill>
            <a:srgbClr val="10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4901183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Georgia"/>
              </a:rPr>
              <a:t>Feature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5248655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44587A"/>
                </a:solidFill>
                <a:latin typeface="Calibri"/>
              </a:rPr>
              <a:t>Guardrails + SLA — balance / overlap checks; sick leave auto-approves after 3 days.</a:t>
            </a:r>
          </a:p>
        </p:txBody>
      </p:sp>
      <p:pic>
        <p:nvPicPr>
          <p:cNvPr id="21" name="Picture 20" descr="_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108192"/>
            <a:ext cx="658397" cy="20208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297680" y="6080760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E5C9A"/>
                </a:solidFill>
                <a:latin typeface="Calibri"/>
              </a:rPr>
              <a:t>Global Cognizant ING Hackathon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08792" y="6080760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B2A4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65760"/>
            <a:ext cx="11457432" cy="61264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68680" y="777240"/>
            <a:ext cx="2926080" cy="329184"/>
          </a:xfrm>
          <a:prstGeom prst="roundRect">
            <a:avLst>
              <a:gd name="adj" fmla="val 50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IMPACT &amp; 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03601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B2A4A"/>
                </a:solidFill>
                <a:latin typeface="Georgia"/>
              </a:rPr>
              <a:t>Why does it matter?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103120"/>
            <a:ext cx="3566160" cy="1783080"/>
          </a:xfrm>
          <a:prstGeom prst="roundRect">
            <a:avLst>
              <a:gd name="adj" fmla="val 5000"/>
            </a:avLst>
          </a:prstGeom>
          <a:solidFill>
            <a:srgbClr val="10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86000"/>
            <a:ext cx="3200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Georgia"/>
              </a:rPr>
              <a:t>~90%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06324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Less time per request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40156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FFFFFF"/>
                </a:solidFill>
                <a:latin typeface="Calibri"/>
              </a:rPr>
              <a:t>Seconds vs minutes of forms &amp; codes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2103120"/>
            <a:ext cx="3566160" cy="1783080"/>
          </a:xfrm>
          <a:prstGeom prst="roundRect">
            <a:avLst>
              <a:gd name="adj" fmla="val 5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2286000"/>
            <a:ext cx="3200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Georgia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306324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Invalid requests submitted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340156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FFFFFF"/>
                </a:solidFill>
                <a:latin typeface="Calibri"/>
              </a:rPr>
              <a:t>Balance · policy · overlap checks block them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59" y="2103120"/>
            <a:ext cx="3566160" cy="1783080"/>
          </a:xfrm>
          <a:prstGeom prst="roundRect">
            <a:avLst>
              <a:gd name="adj" fmla="val 5000"/>
            </a:avLst>
          </a:prstGeom>
          <a:solidFill>
            <a:srgbClr val="2E5C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39" y="2286000"/>
            <a:ext cx="3200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Georgia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39" y="306324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Routed to the right manager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59" y="340156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FFFFFF"/>
                </a:solidFill>
                <a:latin typeface="Calibri"/>
              </a:rPr>
              <a:t>By department, automatically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114800"/>
            <a:ext cx="5257800" cy="1572768"/>
          </a:xfrm>
          <a:prstGeom prst="roundRect">
            <a:avLst>
              <a:gd name="adj" fmla="val 5000"/>
            </a:avLst>
          </a:prstGeom>
          <a:solidFill>
            <a:srgbClr val="EAF0FB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29768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Quantifiable Benefits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736592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44587A"/>
                </a:solidFill>
                <a:latin typeface="Calibri"/>
              </a:rPr>
              <a:t>•  Apply in plain English — no leave codes or forms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44587A"/>
                </a:solidFill>
                <a:latin typeface="Calibri"/>
              </a:rPr>
              <a:t>•  Guardrails stop balance / overlap / policy errors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44587A"/>
                </a:solidFill>
                <a:latin typeface="Calibri"/>
              </a:rPr>
              <a:t>•  Auto-routing + 3-day sick-leave SLA — nothing stuck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44587A"/>
                </a:solidFill>
                <a:latin typeface="Calibri"/>
              </a:rPr>
              <a:t>•  Audit trail + email on every decision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114800"/>
            <a:ext cx="5166360" cy="1572768"/>
          </a:xfrm>
          <a:prstGeom prst="roundRect">
            <a:avLst>
              <a:gd name="adj" fmla="val 5000"/>
            </a:avLst>
          </a:prstGeom>
          <a:solidFill>
            <a:srgbClr val="EAF0FB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42976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Alignment &amp; Risks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736592"/>
            <a:ext cx="4663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44587A"/>
                </a:solidFill>
                <a:latin typeface="Calibri"/>
              </a:rPr>
              <a:t>Hackathon theme: Experience / Automate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44587A"/>
                </a:solidFill>
                <a:latin typeface="Calibri"/>
              </a:rPr>
              <a:t>ING goal: simpler, faster employee experience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44587A"/>
                </a:solidFill>
                <a:latin typeface="Calibri"/>
              </a:rPr>
              <a:t>Key assumption: extraction quality (mitigated by deterministic checks + offline fallback)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44587A"/>
                </a:solidFill>
                <a:latin typeface="Calibri"/>
              </a:rPr>
              <a:t>Risks: HRMS / SSO integration, email deliverability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760720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8A97B0"/>
                </a:solidFill>
                <a:latin typeface="Calibri"/>
              </a:rPr>
              <a:t>Estimates based on the working prototype.</a:t>
            </a:r>
          </a:p>
        </p:txBody>
      </p:sp>
      <p:pic>
        <p:nvPicPr>
          <p:cNvPr id="24" name="Picture 23" descr="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108192"/>
            <a:ext cx="658397" cy="20208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297680" y="6080760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E5C9A"/>
                </a:solidFill>
                <a:latin typeface="Calibri"/>
              </a:rPr>
              <a:t>Global Cognizant ING Hackathon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08792" y="6080760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B2A4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65760"/>
            <a:ext cx="11457432" cy="6126480"/>
          </a:xfrm>
          <a:prstGeom prst="roundRect">
            <a:avLst>
              <a:gd name="adj" fmla="val 2500"/>
            </a:avLst>
          </a:prstGeom>
          <a:solidFill>
            <a:srgbClr val="152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869680" y="3657600"/>
            <a:ext cx="4023360" cy="4023360"/>
          </a:xfrm>
          <a:prstGeom prst="ellipse">
            <a:avLst/>
          </a:prstGeom>
          <a:solidFill>
            <a:srgbClr val="15223C"/>
          </a:solidFill>
          <a:ln w="25400">
            <a:solidFill>
              <a:srgbClr val="F265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55480" y="4343400"/>
            <a:ext cx="2651760" cy="2651760"/>
          </a:xfrm>
          <a:prstGeom prst="ellipse">
            <a:avLst/>
          </a:prstGeom>
          <a:noFill/>
          <a:ln w="19050">
            <a:solidFill>
              <a:srgbClr val="F265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77724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TEAM &amp; ART OF POSSIBLE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234440"/>
            <a:ext cx="103601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Georgia"/>
              </a:rPr>
              <a:t>The team behind the hack + what comes next</a:t>
            </a:r>
          </a:p>
        </p:txBody>
      </p:sp>
      <p:sp>
        <p:nvSpPr>
          <p:cNvPr id="7" name="Oval 6"/>
          <p:cNvSpPr/>
          <p:nvPr/>
        </p:nvSpPr>
        <p:spPr>
          <a:xfrm>
            <a:off x="1554480" y="2148840"/>
            <a:ext cx="914400" cy="914400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Georgia"/>
              </a:rPr>
              <a:t>PB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46120"/>
            <a:ext cx="2468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Prakash Bagsariya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566160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C9D6EC"/>
                </a:solidFill>
                <a:latin typeface="Calibri"/>
              </a:rPr>
              <a:t>Lead Developer</a:t>
            </a:r>
          </a:p>
        </p:txBody>
      </p:sp>
      <p:sp>
        <p:nvSpPr>
          <p:cNvPr id="10" name="Oval 9"/>
          <p:cNvSpPr/>
          <p:nvPr/>
        </p:nvSpPr>
        <p:spPr>
          <a:xfrm>
            <a:off x="4572000" y="2148840"/>
            <a:ext cx="914400" cy="914400"/>
          </a:xfrm>
          <a:prstGeom prst="ellipse">
            <a:avLst/>
          </a:prstGeom>
          <a:solidFill>
            <a:srgbClr val="1C8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Georgia"/>
              </a:rPr>
              <a:t>KT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3246120"/>
            <a:ext cx="2468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Krupal Tasare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566160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C9D6EC"/>
                </a:solidFill>
                <a:latin typeface="Calibri"/>
              </a:rPr>
              <a:t>Developer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069080"/>
            <a:ext cx="7040880" cy="1600200"/>
          </a:xfrm>
          <a:prstGeom prst="roundRect">
            <a:avLst>
              <a:gd name="adj" fmla="val 5000"/>
            </a:avLst>
          </a:prstGeom>
          <a:noFill/>
          <a:ln w="15240">
            <a:solidFill>
              <a:srgbClr val="F265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206240"/>
            <a:ext cx="548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26522"/>
                </a:solidFill>
                <a:latin typeface="Segoe UI Symbol"/>
              </a:rPr>
              <a:t>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4315968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26522"/>
                </a:solidFill>
                <a:latin typeface="Calibri"/>
              </a:rPr>
              <a:t>Art of Possible — Broader Vision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864608"/>
            <a:ext cx="6492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Phase 1 (Done): Working app — NL apply, validation, dept approvals, notifications, auth.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Phase 2 (Next): Microsoft Teams bot; richer policies &amp; reminders.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Phase 3 (Future): Live HRMS + SSO, multi-language, analytics dashboard.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15000"/>
            <a:ext cx="7040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F26522"/>
                </a:solidFill>
                <a:latin typeface="Georgia"/>
              </a:rPr>
              <a:t>SimplifyING  ·  AutomatING  ·  InnovatING</a:t>
            </a:r>
          </a:p>
        </p:txBody>
      </p:sp>
      <p:pic>
        <p:nvPicPr>
          <p:cNvPr id="18" name="Picture 17" descr="cognizant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108192"/>
            <a:ext cx="658397" cy="20208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297680" y="6080760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C9D6EC"/>
                </a:solidFill>
                <a:latin typeface="Calibri"/>
              </a:rPr>
              <a:t>Global Cognizant ING Hackathon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08792" y="6080760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